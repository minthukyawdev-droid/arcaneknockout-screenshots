
<file path=[Content_Types].xml><?xml version="1.0" encoding="utf-8"?>
<Types xmlns="http://schemas.openxmlformats.org/package/2006/content-types">
  <Default Extension="xml" ContentType="application/vnd.openxmlformats-package.core-properties+xml"/>
  <Default Extension="bin" ContentType="image/webp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d523d28ab8d4af8" /><Relationship Type="http://schemas.openxmlformats.org/officeDocument/2006/relationships/extended-properties" Target="/docProps/app.xml" Id="R5b505aa7cb8e4686" /><Relationship Type="http://schemas.openxmlformats.org/officeDocument/2006/relationships/officeDocument" Target="/ppt/presentation.xml" Id="Rc74214a350094c2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091dabc41004419"/>
  </p:sldMasterIdLst>
  <p:notesMasterIdLst>
    <p:notesMasterId xmlns:r="http://schemas.openxmlformats.org/officeDocument/2006/relationships" r:id="Rf5736bb257fd4be3"/>
  </p:notesMasterIdLst>
  <p:sldIdLst>
    <p:sldId xmlns:r="http://schemas.openxmlformats.org/officeDocument/2006/relationships" id="256" r:id="Rb9c5e696042a4f0a"/>
    <p:sldId xmlns:r="http://schemas.openxmlformats.org/officeDocument/2006/relationships" id="257" r:id="R380bf93b94114515"/>
    <p:sldId xmlns:r="http://schemas.openxmlformats.org/officeDocument/2006/relationships" id="258" r:id="R91c09abfa1b54776"/>
    <p:sldId xmlns:r="http://schemas.openxmlformats.org/officeDocument/2006/relationships" id="259" r:id="R9e8008f41c2f4cdb"/>
    <p:sldId xmlns:r="http://schemas.openxmlformats.org/officeDocument/2006/relationships" id="260" r:id="R8e67c85f31ef4f20"/>
    <p:sldId xmlns:r="http://schemas.openxmlformats.org/officeDocument/2006/relationships" id="261" r:id="Rc4b6a0cec04e4dc2"/>
    <p:sldId xmlns:r="http://schemas.openxmlformats.org/officeDocument/2006/relationships" id="262" r:id="R16a8cb01db4c4105"/>
    <p:sldId xmlns:r="http://schemas.openxmlformats.org/officeDocument/2006/relationships" id="263" r:id="R447d39e94de24464"/>
    <p:sldId xmlns:r="http://schemas.openxmlformats.org/officeDocument/2006/relationships" id="264" r:id="Re58291c3c405434c"/>
    <p:sldId xmlns:r="http://schemas.openxmlformats.org/officeDocument/2006/relationships" id="265" r:id="R384d481d61bf47dc"/>
    <p:sldId xmlns:r="http://schemas.openxmlformats.org/officeDocument/2006/relationships" id="266" r:id="Rbcdc8750295e469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0f56b10c49f429f" /><Relationship Type="http://schemas.openxmlformats.org/officeDocument/2006/relationships/slideMaster" Target="/ppt/slideMasters/slideMaster1.xml" Id="Rf091dabc41004419" /><Relationship Type="http://schemas.openxmlformats.org/officeDocument/2006/relationships/notesMaster" Target="/ppt/notesMasters/notesMaster1.xml" Id="Rf5736bb257fd4be3" /><Relationship Type="http://schemas.openxmlformats.org/officeDocument/2006/relationships/presProps" Target="/ppt/presProps.xml" Id="R6b2cb6f9297a4169" /><Relationship Type="http://schemas.openxmlformats.org/officeDocument/2006/relationships/tableStyles" Target="/ppt/tableStyles.xml" Id="Rc1e937902079442e" /><Relationship Type="http://schemas.openxmlformats.org/officeDocument/2006/relationships/slide" Target="/ppt/slides/slide1.xml" Id="Rb9c5e696042a4f0a" /><Relationship Type="http://schemas.openxmlformats.org/officeDocument/2006/relationships/slide" Target="/ppt/slides/slide2.xml" Id="R380bf93b94114515" /><Relationship Type="http://schemas.openxmlformats.org/officeDocument/2006/relationships/slide" Target="/ppt/slides/slide3.xml" Id="R91c09abfa1b54776" /><Relationship Type="http://schemas.openxmlformats.org/officeDocument/2006/relationships/slide" Target="/ppt/slides/slide4.xml" Id="R9e8008f41c2f4cdb" /><Relationship Type="http://schemas.openxmlformats.org/officeDocument/2006/relationships/slide" Target="/ppt/slides/slide5.xml" Id="R8e67c85f31ef4f20" /><Relationship Type="http://schemas.openxmlformats.org/officeDocument/2006/relationships/slide" Target="/ppt/slides/slide6.xml" Id="Rc4b6a0cec04e4dc2" /><Relationship Type="http://schemas.openxmlformats.org/officeDocument/2006/relationships/slide" Target="/ppt/slides/slide7.xml" Id="R16a8cb01db4c4105" /><Relationship Type="http://schemas.openxmlformats.org/officeDocument/2006/relationships/slide" Target="/ppt/slides/slide8.xml" Id="R447d39e94de24464" /><Relationship Type="http://schemas.openxmlformats.org/officeDocument/2006/relationships/slide" Target="/ppt/slides/slide9.xml" Id="Re58291c3c405434c" /><Relationship Type="http://schemas.openxmlformats.org/officeDocument/2006/relationships/slide" Target="/ppt/slides/slide10.xml" Id="R384d481d61bf47dc" /><Relationship Type="http://schemas.openxmlformats.org/officeDocument/2006/relationships/slide" Target="/ppt/slides/slide11.xml" Id="Rbcdc8750295e469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4140843347d4b8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e1204b9891b4665" /><Relationship Type="http://schemas.openxmlformats.org/officeDocument/2006/relationships/notesMaster" Target="/ppt/notesMasters/notesMaster1.xml" Id="Rc68033a72caf423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9e304e36e2143af" /><Relationship Type="http://schemas.openxmlformats.org/officeDocument/2006/relationships/notesMaster" Target="/ppt/notesMasters/notesMaster1.xml" Id="Ra1a64b4e6c15416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608c91dcc604539" /><Relationship Type="http://schemas.openxmlformats.org/officeDocument/2006/relationships/notesMaster" Target="/ppt/notesMasters/notesMaster1.xml" Id="R085314cd4b914ea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9db5b525c8041b1" /><Relationship Type="http://schemas.openxmlformats.org/officeDocument/2006/relationships/notesMaster" Target="/ppt/notesMasters/notesMaster1.xml" Id="R7675ea5ff532404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c186b31a7054515" /><Relationship Type="http://schemas.openxmlformats.org/officeDocument/2006/relationships/notesMaster" Target="/ppt/notesMasters/notesMaster1.xml" Id="Re6e6bdbc28dd450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bd7daa1f8f2495e" /><Relationship Type="http://schemas.openxmlformats.org/officeDocument/2006/relationships/notesMaster" Target="/ppt/notesMasters/notesMaster1.xml" Id="R2c97a18c3f704ff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eee4fb6b97c435c" /><Relationship Type="http://schemas.openxmlformats.org/officeDocument/2006/relationships/notesMaster" Target="/ppt/notesMasters/notesMaster1.xml" Id="R2fee40ceed0a41d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0a6998ce1a444ef" /><Relationship Type="http://schemas.openxmlformats.org/officeDocument/2006/relationships/notesMaster" Target="/ppt/notesMasters/notesMaster1.xml" Id="Rac37ba1a08134ba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08e9f8d552146a7" /><Relationship Type="http://schemas.openxmlformats.org/officeDocument/2006/relationships/notesMaster" Target="/ppt/notesMasters/notesMaster1.xml" Id="R658a29d2a7c34a5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62b385a44664ac2" /><Relationship Type="http://schemas.openxmlformats.org/officeDocument/2006/relationships/notesMaster" Target="/ppt/notesMasters/notesMaster1.xml" Id="R0abb660ef375434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7f0122e5bd844a9" /><Relationship Type="http://schemas.openxmlformats.org/officeDocument/2006/relationships/notesMaster" Target="/ppt/notesMasters/notesMaster1.xml" Id="Ra62f5fb0d80c4c9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title and funding ask supplied by Min Thu Kyaw. Cover image: ArcaneKnockout-Website/public/images/hero-mage.webp. Promotional key art, not a gameplay screenshot. Proposal dated 15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current game prototype and PROJECT_STATE.md. Image: Recordings/FundingGameplay/arena-1-frame-432.png, actual Unity Editor capture with offline bots. Impact increases knockback. Survival hazards drain health and allow recovery. Sudden Knockout uses instant ring-out. Video: https://minthukyawdev-droid.github.io/ArcaneKnockout-Screenshots/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game loadout and round systems, current prototype. Fixed Fire Orb primary plus movement, defense, direct attack and area-control slots. First to five round wins, upgrades between rounds. Image: public funding media 04-arcane-knockout-gravity-well.png, staged in-engine camera with overlay controls hidden. https://arcaneknockout.minthukyaw.com/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current map and mode implementation. Images: Documentation/Art/MapIdentity-v1/citadel-opening.png, public media 03-arcane-knockout-molten-crucible.png and 02-arcane-knockout-venom-sanctum.png. In-engine staged captures, controls hidden. Current modes include FFA, Team Survival 2v2 and Sudden Knockout. Website: https://arcaneknockout.minthukyaw.com/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Prototype links verified during funding preparation. Android v0.1.0 APK user-built 13 October 2026, Android 8.0+ ARM64. Windows x64 ZIP built 15 October 2026. Offline startup and four targeted PlayMode checks passed for Windows preparation, not a complete human playthrough or live multiplayer validation. No macOS build supplied. Image: Recordings/FundingGameplay/arena-2-frame-96.png, Unity Editor, offline bots. Android: https://arcaneknockout.minthukyaw.com/downloads/ArcaneKnockout-v0.1.0.apk?build=2026-10-13-db63d313</a:t>
            </a:r>
          </a:p>
          <a:p xmlns:a="http://schemas.openxmlformats.org/drawingml/2006/main">
            <a:r>
              <a:t>Windows: https://github.com/minthukyawdev-droid/ArcaneKnockout-Screenshots/releases/download/funding-prototype-2026-10-15/ArcaneKnockout-Windows-x64-Prototype-2026-10-15.zip</a:t>
            </a:r>
          </a:p>
          <a:p xmlns:a="http://schemas.openxmlformats.org/drawingml/2006/main">
            <a:r>
              <a:t>Gameplay: https://minthukyawdev-droid.github.io/ArcaneKnockout-Screenshots/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Business model is a proposal, not integrated or validated. Target audience is a positioning hypothesis, not audience research. No verified player-acquisition, retention or revenue metrics. MMP has not been integrated. Current stage: pre-launch without integrated monetization. User application planning and existing prototype are the sources. Image: Documentation/Art/StaffWizard/hero.png, in-engine character capture.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Development priorities derived from user feedback and prototype state. The user reported difficulty with Windows spell controls. Real multiplayer, physical-device performance, retention and monetization remain validation tasks. No traction or test results are invented. Screenshot: Recordings/FundingGameplay/arena-3-frame-432.png, Unity Editor offline bots.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founder statements and personal portfolio https://minthukyaw.com/about . Min Thu Kyaw is based in Myanmar, with 12+ years across software engineering, solution architecture and product delivery, outside the professional game industry. Initial motivation: create a game he wanted to play. AI-assisted workflow. Two hires are conditional, roles are proposed and candidates are not represented as secured. No established studio or team website.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proposed funding budget Milestones sheet. Periods are relative to funding and recruitment, not calendar commitments. Four months is the funded development window, not a guaranteed release deadline. Ship-year target is 2027. Timing depends on hiring, playtest outcomes and release readiness. https://raw.githubusercontent.com/minthukyawdev-droid/ArcaneKnockout-Screenshots/main/ArcaneKnockout-Funding-Budget-30000-USD.xlsx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All USD. Planning estimates, not confirmed quotations. Source: published ArcaneKnockout-Funding-Budget-30000-USD.xlsx, Budget sheet. Development $18,000 = 3 people × 4 months × $1,500/person/month. Art/UI $3,000, audio $500, QA/devices $1,500, tools/hosting $300, publishing/admin $100, PR/marketing $3,000, contingency $3,600. PR/marketing = press/store assets $700 + creator outreach $800 + paid experiments $1,500. Total checked: $30,000. https://raw.githubusercontent.com/minthukyawdev-droid/ArcaneKnockout-Screenshots/main/ArcaneKnockout-Funding-Budget-30000-USD.xlsx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Funding request supplied by founder. Four-month funded plan and 2027 target are conditional on funding, hiring and validation. Review materials: https://github.com/minthukyawdev-droid/ArcaneKnockout-Screenshots/blob/main/SUPPORTING_MATERIALS.md</a:t>
            </a:r>
          </a:p>
          <a:p xmlns:a="http://schemas.openxmlformats.org/drawingml/2006/main">
            <a:r>
              <a:t>Official website: https://arcaneknockout.minthukyaw.com/</a:t>
            </a:r>
          </a:p>
          <a:p xmlns:a="http://schemas.openxmlformats.org/drawingml/2006/main">
            <a:r>
              <a:t>Founder portfolio: https://minthukyaw.com/about</a:t>
            </a:r>
          </a:p>
          <a:p xmlns:a="http://schemas.openxmlformats.org/drawingml/2006/main">
            <a:r>
              <a:t>The game source repository remains private. All prototype and evidence links are public.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3bfae5ae744b5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cd0de0410f432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0dfff2fc8b4d6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60c188d42b426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41b3cb2c96414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2f74ac05d24fe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5C799BC-E8DF-4D44-AF67-D72F973A2ED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D7FEC5B-255F-4A88-B664-78D26DDBBA8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6A511EB-C725-45F6-A9D9-FDD814C4571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C1B871F-92D3-47AB-8A51-A83216C1D51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52DE480-4715-46F4-AAEC-119B79281B0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38263BB-18CB-461C-979B-8AFF7E0649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641ED44-E5BD-42C9-80E9-428D6D91C5C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B6E3D18-3B0C-4875-B8F1-E303E6003FD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FAC3A53-471F-41E1-8F6B-E9070371750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96993F2-7DCB-48AB-BBA1-321D15508C5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a1df888cf424cbc" /><Relationship Type="http://schemas.openxmlformats.org/officeDocument/2006/relationships/slideLayout" Target="/ppt/slideLayouts/slideLayout1.xml" Id="R87b87e7dce61407b" /><Relationship Type="http://schemas.openxmlformats.org/officeDocument/2006/relationships/slideLayout" Target="/ppt/slideLayouts/slideLayout2.xml" Id="Rd2cd1d8478a1413f" /><Relationship Type="http://schemas.openxmlformats.org/officeDocument/2006/relationships/slideLayout" Target="/ppt/slideLayouts/slideLayout3.xml" Id="Rc0dec5e16a064ef3" /><Relationship Type="http://schemas.openxmlformats.org/officeDocument/2006/relationships/slideLayout" Target="/ppt/slideLayouts/slideLayout4.xml" Id="R8d9551df9ecb4791" /><Relationship Type="http://schemas.openxmlformats.org/officeDocument/2006/relationships/slideLayout" Target="/ppt/slideLayouts/slideLayout5.xml" Id="Re169676fb7ee4a59" /><Relationship Type="http://schemas.openxmlformats.org/officeDocument/2006/relationships/slideLayout" Target="/ppt/slideLayouts/slideLayout6.xml" Id="R5ac0bc9f7692453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7b87e7dce61407b"/>
    <p:sldLayoutId xmlns:r="http://schemas.openxmlformats.org/officeDocument/2006/relationships" id="2147483650" r:id="Rd2cd1d8478a1413f"/>
    <p:sldLayoutId xmlns:r="http://schemas.openxmlformats.org/officeDocument/2006/relationships" id="2147483651" r:id="Rc0dec5e16a064ef3"/>
    <p:sldLayoutId xmlns:r="http://schemas.openxmlformats.org/officeDocument/2006/relationships" id="2147483652" r:id="R8d9551df9ecb4791"/>
    <p:sldLayoutId xmlns:r="http://schemas.openxmlformats.org/officeDocument/2006/relationships" id="2147483653" r:id="Re169676fb7ee4a59"/>
    <p:sldLayoutId xmlns:r="http://schemas.openxmlformats.org/officeDocument/2006/relationships" id="2147483654" r:id="R5ac0bc9f7692453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fb61945b84c4db7" /><Relationship Type="http://schemas.openxmlformats.org/officeDocument/2006/relationships/image" Target="/ppt/media/image.bin" Id="Rdfb3ac151ecc49a0" /><Relationship Type="http://schemas.openxmlformats.org/officeDocument/2006/relationships/notesSlide" Target="/ppt/notesSlides/notesSlide1.xml" Id="R36c3ec35afd5469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8c56cf5a0e842eb" /><Relationship Type="http://schemas.openxmlformats.org/officeDocument/2006/relationships/image" Target="/ppt/media/image.png" Id="R5a9e87906e5942c3" /><Relationship Type="http://schemas.openxmlformats.org/officeDocument/2006/relationships/notesSlide" Target="/ppt/notesSlides/notesSlide2.xml" Id="R9be8f137159247f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ec3be77f4a44304" /><Relationship Type="http://schemas.openxmlformats.org/officeDocument/2006/relationships/image" Target="/ppt/media/image2.png" Id="R1459f3100dd8445c" /><Relationship Type="http://schemas.openxmlformats.org/officeDocument/2006/relationships/notesSlide" Target="/ppt/notesSlides/notesSlide3.xml" Id="R4ee06e75c64748e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1c1b7f94dab4bea" /><Relationship Type="http://schemas.openxmlformats.org/officeDocument/2006/relationships/image" Target="/ppt/media/image3.png" Id="R4716fd9372fc4c30" /><Relationship Type="http://schemas.openxmlformats.org/officeDocument/2006/relationships/image" Target="/ppt/media/image4.png" Id="Rd186d63bbab04fb2" /><Relationship Type="http://schemas.openxmlformats.org/officeDocument/2006/relationships/image" Target="/ppt/media/image5.png" Id="R64eb0618684a4868" /><Relationship Type="http://schemas.openxmlformats.org/officeDocument/2006/relationships/notesSlide" Target="/ppt/notesSlides/notesSlide4.xml" Id="R5bff8a9ce04345e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45371fca47e402d" /><Relationship Type="http://schemas.openxmlformats.org/officeDocument/2006/relationships/image" Target="/ppt/media/image6.png" Id="Rfd0a607320df4dd8" /><Relationship Type="http://schemas.openxmlformats.org/officeDocument/2006/relationships/hyperlink" Target="https://arcaneknockout.minthukyaw.com/downloads/ArcaneKnockout-v0.1.0.apk?build=2026-10-13-db63d313" TargetMode="External" Id="R8fc02e1c1e1c4cb1" /><Relationship Type="http://schemas.openxmlformats.org/officeDocument/2006/relationships/hyperlink" Target="https://github.com/minthukyawdev-droid/ArcaneKnockout-Screenshots/releases/download/funding-prototype-2026-10-15/ArcaneKnockout-Windows-x64-Prototype-2026-10-15.zip" TargetMode="External" Id="R8b7ee9a91ef246db" /><Relationship Type="http://schemas.openxmlformats.org/officeDocument/2006/relationships/hyperlink" Target="https://minthukyawdev-droid.github.io/ArcaneKnockout-Screenshots/" TargetMode="External" Id="Rdcc6a6b899264b86" /><Relationship Type="http://schemas.openxmlformats.org/officeDocument/2006/relationships/notesSlide" Target="/ppt/notesSlides/notesSlide5.xml" Id="R9e464bdacb63449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ff90a4eac204787" /><Relationship Type="http://schemas.openxmlformats.org/officeDocument/2006/relationships/image" Target="/ppt/media/image7.png" Id="Ra814f84a7e4740ab" /><Relationship Type="http://schemas.openxmlformats.org/officeDocument/2006/relationships/notesSlide" Target="/ppt/notesSlides/notesSlide6.xml" Id="R87223770742543f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1b9de7eb4f94e28" /><Relationship Type="http://schemas.openxmlformats.org/officeDocument/2006/relationships/image" Target="/ppt/media/image8.png" Id="R3a45c33688244dd2" /><Relationship Type="http://schemas.openxmlformats.org/officeDocument/2006/relationships/notesSlide" Target="/ppt/notesSlides/notesSlide7.xml" Id="R67a3f2d9ba32412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8f4ec2a875a4349" /><Relationship Type="http://schemas.openxmlformats.org/officeDocument/2006/relationships/hyperlink" Target="https://minthukyaw.com/about" TargetMode="External" Id="Rb37a7eff90254932" /><Relationship Type="http://schemas.openxmlformats.org/officeDocument/2006/relationships/notesSlide" Target="/ppt/notesSlides/notesSlide8.xml" Id="R5124f7dfc91b49f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fd6c921d64d4cad" /><Relationship Type="http://schemas.openxmlformats.org/officeDocument/2006/relationships/notesSlide" Target="/ppt/notesSlides/notesSlide9.xml" Id="R1dc84792260e4ed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9af6b786e0a4d79" /><Relationship Type="http://schemas.openxmlformats.org/officeDocument/2006/relationships/notesSlide" Target="/ppt/notesSlides/notesSlide10.xml" Id="R6bb578074b474b4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e46a0378b2346f8" /><Relationship Type="http://schemas.openxmlformats.org/officeDocument/2006/relationships/hyperlink" Target="https://github.com/minthukyawdev-droid/ArcaneKnockout-Screenshots/blob/main/SUPPORTING_MATERIALS.md" TargetMode="External" Id="R9d61cc07977148d5" /><Relationship Type="http://schemas.openxmlformats.org/officeDocument/2006/relationships/hyperlink" Target="https://arcaneknockout.minthukyaw.com/" TargetMode="External" Id="R288551430b4f42c4" /><Relationship Type="http://schemas.openxmlformats.org/officeDocument/2006/relationships/hyperlink" Target="https://arcaneknockout.minthukyaw.com/" TargetMode="External" Id="R11e9d32d9b6a4a12" /><Relationship Type="http://schemas.openxmlformats.org/officeDocument/2006/relationships/hyperlink" Target="https://minthukyaw.com/" TargetMode="External" Id="R828f8330751241ad" /><Relationship Type="http://schemas.openxmlformats.org/officeDocument/2006/relationships/notesSlide" Target="/ppt/notesSlides/notesSlide11.xml" Id="Rb9b9e59b204a437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14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1">
            <a:extLst xmlns:a="http://schemas.openxmlformats.org/drawingml/2006/main">
              <a:ext uri="{FF2B5EF4-FFF2-40B4-BE49-F238E27FC236}">
                <a16:creationId xmlns:a16="http://schemas.microsoft.com/office/drawing/2014/main" id="{DB79E326-E019-4493-BBF3-7AFED6A28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1032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AABBD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AABBD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ABBD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E9BFD8-805F-460B-A7D1-6DC0E13DBA9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b3ac151ecc49a0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4CB72CB5-EBC4-4C88-8687-CE26BB95E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33475"/>
            <a:ext cx="59055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6150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6150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pPr>
            <a:r>
              <a:rPr sz="6150" b="1">
                <a:solidFill>
                  <a:srgbClr val="F2F1E9"/>
                </a:solidFill>
                <a:latin typeface="Arial"/>
                <a:ea typeface="Arial"/>
                <a:cs typeface="Arial"/>
              </a:rPr>
              <a:t>Arcane</a:t>
            </a:r>
          </a:p>
          <a:p xmlns:a="http://schemas.openxmlformats.org/drawingml/2006/main">
            <a:pPr>
              <a:defRPr sz="6150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pPr>
            <a:r>
              <a:rPr sz="6150" b="1">
                <a:solidFill>
                  <a:srgbClr val="F2F1E9"/>
                </a:solidFill>
                <a:latin typeface="Arial"/>
                <a:ea typeface="Arial"/>
                <a:cs typeface="Arial"/>
              </a:rPr>
              <a:t>Knockout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20113C58-AEBA-45E3-905F-67088E78D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71850"/>
            <a:ext cx="5143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67DBE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67DBEC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67DBEC"/>
                </a:solidFill>
                <a:latin typeface="Arial"/>
                <a:ea typeface="Arial"/>
                <a:cs typeface="Arial"/>
              </a:rPr>
              <a:t>Four-player wizard arena brawler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F87ED136-97BE-4658-A4FC-70A827314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86275"/>
            <a:ext cx="523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F4C4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F4C46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4C46A"/>
                </a:solidFill>
                <a:latin typeface="Arial"/>
                <a:ea typeface="Arial"/>
                <a:cs typeface="Arial"/>
              </a:rPr>
              <a:t>$30,000 funding proposal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7F67FCB1-915C-4A1A-8868-E754870F5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05400"/>
            <a:ext cx="5334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F2F1E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F2F1E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2F1E9"/>
                </a:solidFill>
                <a:latin typeface="Arial"/>
                <a:ea typeface="Arial"/>
                <a:cs typeface="Arial"/>
              </a:rPr>
              <a:t>Min Thu Kyaw  |  October 2026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96CE4F41-0E87-4890-9537-E12769F28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64579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AABBD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AABBD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ABBD1"/>
                </a:solidFill>
                <a:latin typeface="Arial"/>
                <a:ea typeface="Arial"/>
                <a:cs typeface="Arial"/>
              </a:rPr>
              <a:t>Promotional artwork</a:t>
            </a:r>
          </a:p>
        </p:txBody>
      </p:sp>
    </p:spTree>
    <p:extLst>
      <p:ext uri="{BB962C8B-B14F-4D97-AF65-F5344CB8AC3E}">
        <p14:creationId xmlns:p14="http://schemas.microsoft.com/office/powerpoint/2010/main" val="15519041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814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7">
            <a:extLst xmlns:a="http://schemas.openxmlformats.org/drawingml/2006/main">
              <a:ext uri="{FF2B5EF4-FFF2-40B4-BE49-F238E27FC236}">
                <a16:creationId xmlns:a16="http://schemas.microsoft.com/office/drawing/2014/main" id="{EF5CC4BC-378E-4DD8-B4E4-72E174013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2F1E9"/>
                </a:solidFill>
                <a:latin typeface="Arial"/>
                <a:ea typeface="Arial"/>
                <a:cs typeface="Arial"/>
              </a:rPr>
              <a:t>Every hit makes the next shove stronger</a:t>
            </a:r>
          </a:p>
        </p:txBody>
      </p:sp>
      <p:sp>
        <p:nvSpPr>
          <p:cNvPr id="2" name="text-8">
            <a:extLst xmlns:a="http://schemas.openxmlformats.org/drawingml/2006/main">
              <a:ext uri="{FF2B5EF4-FFF2-40B4-BE49-F238E27FC236}">
                <a16:creationId xmlns:a16="http://schemas.microsoft.com/office/drawing/2014/main" id="{66AE46AC-0504-4BA1-9E4B-BA8C474D1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1032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AABBD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AABBD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ABBD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14BC98-24FE-4D31-99E8-A9A80894D81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9e87906e5942c3"/>
          <a:stretch xmlns:a="http://schemas.openxmlformats.org/drawingml/2006/main"/>
        </p:blipFill>
        <p:spPr>
          <a:xfrm xmlns:a="http://schemas.openxmlformats.org/drawingml/2006/main">
            <a:off x="610658" y="1590675"/>
            <a:ext cx="7179733" cy="4038600"/>
          </a:xfrm>
          <a:prstGeom xmlns:a="http://schemas.openxmlformats.org/drawingml/2006/main" prst="rect">
            <a:avLst/>
          </a:prstGeom>
        </p:spPr>
      </p:pic>
      <p:sp>
        <p:nvSpPr>
          <p:cNvPr id="4" name="text-9">
            <a:extLst xmlns:a="http://schemas.openxmlformats.org/drawingml/2006/main">
              <a:ext uri="{FF2B5EF4-FFF2-40B4-BE49-F238E27FC236}">
                <a16:creationId xmlns:a16="http://schemas.microsoft.com/office/drawing/2014/main" id="{ED6435FF-8263-4A10-88C8-4F50F9C46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552575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67DBE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67DBE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67DBEC"/>
                </a:solidFill>
                <a:latin typeface="Arial"/>
                <a:ea typeface="Arial"/>
                <a:cs typeface="Arial"/>
              </a:rPr>
              <a:t>Build Impact</a:t>
            </a:r>
          </a:p>
        </p:txBody>
      </p:sp>
      <p:sp>
        <p:nvSpPr>
          <p:cNvPr id="5" name="text-10">
            <a:extLst xmlns:a="http://schemas.openxmlformats.org/drawingml/2006/main">
              <a:ext uri="{FF2B5EF4-FFF2-40B4-BE49-F238E27FC236}">
                <a16:creationId xmlns:a16="http://schemas.microsoft.com/office/drawing/2014/main" id="{BEE8DE00-BEF9-4509-82F2-8C259C222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009775"/>
            <a:ext cx="33337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F2F1E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F2F1E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2F1E9"/>
                </a:solidFill>
                <a:latin typeface="Arial"/>
                <a:ea typeface="Arial"/>
                <a:cs typeface="Arial"/>
              </a:rPr>
              <a:t>Land spells to increase an opponent’s knockback.</a:t>
            </a:r>
          </a:p>
        </p:txBody>
      </p:sp>
      <p:sp>
        <p:nvSpPr>
          <p:cNvPr id="6" name="text-11">
            <a:extLst xmlns:a="http://schemas.openxmlformats.org/drawingml/2006/main">
              <a:ext uri="{FF2B5EF4-FFF2-40B4-BE49-F238E27FC236}">
                <a16:creationId xmlns:a16="http://schemas.microsoft.com/office/drawing/2014/main" id="{2A48B6D3-F48E-4CF0-AF76-C4D1E5EE7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105150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67DBE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67DBE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67DBEC"/>
                </a:solidFill>
                <a:latin typeface="Arial"/>
                <a:ea typeface="Arial"/>
                <a:cs typeface="Arial"/>
              </a:rPr>
              <a:t>Fight for safe ground</a:t>
            </a:r>
          </a:p>
        </p:txBody>
      </p:sp>
      <p:sp>
        <p:nvSpPr>
          <p:cNvPr id="7" name="text-12">
            <a:extLst xmlns:a="http://schemas.openxmlformats.org/drawingml/2006/main">
              <a:ext uri="{FF2B5EF4-FFF2-40B4-BE49-F238E27FC236}">
                <a16:creationId xmlns:a16="http://schemas.microsoft.com/office/drawing/2014/main" id="{38ADE266-AFD2-4F56-81A9-94CB82891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562350"/>
            <a:ext cx="33337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F2F1E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F2F1E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2F1E9"/>
                </a:solidFill>
                <a:latin typeface="Arial"/>
                <a:ea typeface="Arial"/>
                <a:cs typeface="Arial"/>
              </a:rPr>
              <a:t>Arena collapse pushes the fight into less space.</a:t>
            </a:r>
          </a:p>
        </p:txBody>
      </p:sp>
      <p:sp>
        <p:nvSpPr>
          <p:cNvPr id="8" name="text-13">
            <a:extLst xmlns:a="http://schemas.openxmlformats.org/drawingml/2006/main">
              <a:ext uri="{FF2B5EF4-FFF2-40B4-BE49-F238E27FC236}">
                <a16:creationId xmlns:a16="http://schemas.microsoft.com/office/drawing/2014/main" id="{D28C856B-AD31-4594-B7FD-F14CF07AC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695825"/>
            <a:ext cx="3333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67DBE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67DBE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67DBEC"/>
                </a:solidFill>
                <a:latin typeface="Arial"/>
                <a:ea typeface="Arial"/>
                <a:cs typeface="Arial"/>
              </a:rPr>
              <a:t>Recover the round</a:t>
            </a:r>
          </a:p>
        </p:txBody>
      </p:sp>
      <p:sp>
        <p:nvSpPr>
          <p:cNvPr id="9" name="text-14">
            <a:extLst xmlns:a="http://schemas.openxmlformats.org/drawingml/2006/main">
              <a:ext uri="{FF2B5EF4-FFF2-40B4-BE49-F238E27FC236}">
                <a16:creationId xmlns:a16="http://schemas.microsoft.com/office/drawing/2014/main" id="{7D6D00DA-9B5A-4963-BA83-F198DE615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143500"/>
            <a:ext cx="333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F2F1E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F2F1E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2F1E9"/>
                </a:solidFill>
                <a:latin typeface="Arial"/>
                <a:ea typeface="Arial"/>
                <a:cs typeface="Arial"/>
              </a:rPr>
              <a:t>Use movement and defensive spells to escape danger.</a:t>
            </a:r>
          </a:p>
        </p:txBody>
      </p:sp>
      <p:sp>
        <p:nvSpPr>
          <p:cNvPr id="10" name="text-15">
            <a:extLst xmlns:a="http://schemas.openxmlformats.org/drawingml/2006/main">
              <a:ext uri="{FF2B5EF4-FFF2-40B4-BE49-F238E27FC236}">
                <a16:creationId xmlns:a16="http://schemas.microsoft.com/office/drawing/2014/main" id="{4E3BEEBE-F6F9-4D7D-8BC1-594205C83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48350"/>
            <a:ext cx="7286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AABBD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AABBD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ABBD1"/>
                </a:solidFill>
                <a:latin typeface="Arial"/>
                <a:ea typeface="Arial"/>
                <a:cs typeface="Arial"/>
              </a:rPr>
              <a:t>Actual Unity Editor gameplay with offline bots</a:t>
            </a:r>
          </a:p>
        </p:txBody>
      </p:sp>
    </p:spTree>
    <p:extLst>
      <p:ext uri="{BB962C8B-B14F-4D97-AF65-F5344CB8AC3E}">
        <p14:creationId xmlns:p14="http://schemas.microsoft.com/office/powerpoint/2010/main" val="66849372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814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16">
            <a:extLst xmlns:a="http://schemas.openxmlformats.org/drawingml/2006/main">
              <a:ext uri="{FF2B5EF4-FFF2-40B4-BE49-F238E27FC236}">
                <a16:creationId xmlns:a16="http://schemas.microsoft.com/office/drawing/2014/main" id="{D01443EF-6A6B-4E41-89BC-9F874C776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2F1E9"/>
                </a:solidFill>
                <a:latin typeface="Arial"/>
                <a:ea typeface="Arial"/>
                <a:cs typeface="Arial"/>
              </a:rPr>
              <a:t>Five spells, chosen around your playstyle</a:t>
            </a:r>
          </a:p>
        </p:txBody>
      </p:sp>
      <p:sp>
        <p:nvSpPr>
          <p:cNvPr id="2" name="text-17">
            <a:extLst xmlns:a="http://schemas.openxmlformats.org/drawingml/2006/main">
              <a:ext uri="{FF2B5EF4-FFF2-40B4-BE49-F238E27FC236}">
                <a16:creationId xmlns:a16="http://schemas.microsoft.com/office/drawing/2014/main" id="{65E48D6B-6882-49D6-A584-F508016B4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1032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AABBD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AABBD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ABBD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CB391D-16F6-4FDE-A4EC-D9DB25A7F87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59f3100dd8445c"/>
          <a:stretch xmlns:a="http://schemas.openxmlformats.org/drawingml/2006/main"/>
        </p:blipFill>
        <p:spPr>
          <a:xfrm xmlns:a="http://schemas.openxmlformats.org/drawingml/2006/main">
            <a:off x="610658" y="1552575"/>
            <a:ext cx="6265333" cy="3524250"/>
          </a:xfrm>
          <a:prstGeom xmlns:a="http://schemas.openxmlformats.org/drawingml/2006/main" prst="rect">
            <a:avLst/>
          </a:prstGeom>
        </p:spPr>
      </p:pic>
      <p:sp>
        <p:nvSpPr>
          <p:cNvPr id="4" name="text-18">
            <a:extLst xmlns:a="http://schemas.openxmlformats.org/drawingml/2006/main">
              <a:ext uri="{FF2B5EF4-FFF2-40B4-BE49-F238E27FC236}">
                <a16:creationId xmlns:a16="http://schemas.microsoft.com/office/drawing/2014/main" id="{ECA9E706-69E7-425C-BB0C-89438FCE4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6334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AABBD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AABBD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ABBD1"/>
                </a:solidFill>
                <a:latin typeface="Arial"/>
                <a:ea typeface="Arial"/>
                <a:cs typeface="Arial"/>
              </a:rPr>
              <a:t>Gravity Well • in-engine spell capture</a:t>
            </a:r>
          </a:p>
        </p:txBody>
      </p:sp>
      <p:sp>
        <p:nvSpPr>
          <p:cNvPr id="5" name="text-19">
            <a:extLst xmlns:a="http://schemas.openxmlformats.org/drawingml/2006/main">
              <a:ext uri="{FF2B5EF4-FFF2-40B4-BE49-F238E27FC236}">
                <a16:creationId xmlns:a16="http://schemas.microsoft.com/office/drawing/2014/main" id="{14A86A4B-E448-4F64-BB47-D2B12DF41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1581150"/>
            <a:ext cx="41433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F4C4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F4C46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4C46A"/>
                </a:solidFill>
                <a:latin typeface="Arial"/>
                <a:ea typeface="Arial"/>
                <a:cs typeface="Arial"/>
              </a:rPr>
              <a:t>Fire Orb anchors every loadout.</a:t>
            </a:r>
          </a:p>
        </p:txBody>
      </p:sp>
      <p:sp>
        <p:nvSpPr>
          <p:cNvPr id="6" name="text-20">
            <a:extLst xmlns:a="http://schemas.openxmlformats.org/drawingml/2006/main">
              <a:ext uri="{FF2B5EF4-FFF2-40B4-BE49-F238E27FC236}">
                <a16:creationId xmlns:a16="http://schemas.microsoft.com/office/drawing/2014/main" id="{06748EFE-89AE-4026-80E2-41B97EB67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2543175"/>
            <a:ext cx="4143375" cy="1343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F2F1E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F2F1E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2F1E9"/>
                </a:solidFill>
                <a:latin typeface="Arial"/>
                <a:ea typeface="Arial"/>
                <a:cs typeface="Arial"/>
              </a:rPr>
              <a:t>Choose four secondary spells:</a:t>
            </a:r>
          </a:p>
          <a:p xmlns:a="http://schemas.openxmlformats.org/drawingml/2006/main">
            <a:pPr>
              <a:defRPr sz="2025" b="0">
                <a:solidFill>
                  <a:srgbClr val="F2F1E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2F1E9"/>
                </a:solidFill>
                <a:latin typeface="Arial"/>
                <a:ea typeface="Arial"/>
                <a:cs typeface="Arial"/>
              </a:rPr>
              <a:t>movement, defense, direct attack</a:t>
            </a:r>
          </a:p>
          <a:p xmlns:a="http://schemas.openxmlformats.org/drawingml/2006/main">
            <a:pPr>
              <a:defRPr sz="2025" b="0">
                <a:solidFill>
                  <a:srgbClr val="F2F1E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2F1E9"/>
                </a:solidFill>
                <a:latin typeface="Arial"/>
                <a:ea typeface="Arial"/>
                <a:cs typeface="Arial"/>
              </a:rPr>
              <a:t>and area control.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5B5EE1-D40A-4649-8824-0B0D1EB6A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4143375"/>
            <a:ext cx="4143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C53"/>
          </a:solidFill>
          <a:ln xmlns:a="http://schemas.openxmlformats.org/drawingml/2006/main" w="0">
            <a:noFill/>
          </a:ln>
        </p:spPr>
      </p:sp>
      <p:sp>
        <p:nvSpPr>
          <p:cNvPr id="8" name="text-21">
            <a:extLst xmlns:a="http://schemas.openxmlformats.org/drawingml/2006/main">
              <a:ext uri="{FF2B5EF4-FFF2-40B4-BE49-F238E27FC236}">
                <a16:creationId xmlns:a16="http://schemas.microsoft.com/office/drawing/2014/main" id="{B006A96E-197C-4EBA-A668-76C6A0C55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4419600"/>
            <a:ext cx="4143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67DBE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67DBEC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67DBEC"/>
                </a:solidFill>
                <a:latin typeface="Arial"/>
                <a:ea typeface="Arial"/>
                <a:cs typeface="Arial"/>
              </a:rPr>
              <a:t>Win rounds, then adapt.</a:t>
            </a:r>
          </a:p>
        </p:txBody>
      </p:sp>
      <p:sp>
        <p:nvSpPr>
          <p:cNvPr id="9" name="text-22">
            <a:extLst xmlns:a="http://schemas.openxmlformats.org/drawingml/2006/main">
              <a:ext uri="{FF2B5EF4-FFF2-40B4-BE49-F238E27FC236}">
                <a16:creationId xmlns:a16="http://schemas.microsoft.com/office/drawing/2014/main" id="{853F78CD-8505-409D-B688-B9A5DA2C0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4953000"/>
            <a:ext cx="4143375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F2F1E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F2F1E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2F1E9"/>
                </a:solidFill>
                <a:latin typeface="Arial"/>
                <a:ea typeface="Arial"/>
                <a:cs typeface="Arial"/>
              </a:rPr>
              <a:t>Choose upgrades between rounds.</a:t>
            </a:r>
          </a:p>
          <a:p xmlns:a="http://schemas.openxmlformats.org/drawingml/2006/main">
            <a:pPr>
              <a:defRPr sz="2025" b="0">
                <a:solidFill>
                  <a:srgbClr val="F2F1E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2F1E9"/>
                </a:solidFill>
                <a:latin typeface="Arial"/>
                <a:ea typeface="Arial"/>
                <a:cs typeface="Arial"/>
              </a:rPr>
              <a:t>First to five round wins takes</a:t>
            </a:r>
          </a:p>
          <a:p xmlns:a="http://schemas.openxmlformats.org/drawingml/2006/main">
            <a:pPr>
              <a:defRPr sz="2025" b="0">
                <a:solidFill>
                  <a:srgbClr val="F2F1E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2F1E9"/>
                </a:solidFill>
                <a:latin typeface="Arial"/>
                <a:ea typeface="Arial"/>
                <a:cs typeface="Arial"/>
              </a:rPr>
              <a:t>the match.</a:t>
            </a:r>
          </a:p>
        </p:txBody>
      </p:sp>
    </p:spTree>
    <p:extLst>
      <p:ext uri="{BB962C8B-B14F-4D97-AF65-F5344CB8AC3E}">
        <p14:creationId xmlns:p14="http://schemas.microsoft.com/office/powerpoint/2010/main" val="3073443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814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-23">
            <a:extLst xmlns:a="http://schemas.openxmlformats.org/drawingml/2006/main">
              <a:ext uri="{FF2B5EF4-FFF2-40B4-BE49-F238E27FC236}">
                <a16:creationId xmlns:a16="http://schemas.microsoft.com/office/drawing/2014/main" id="{D0DE077D-85A9-4C18-B70C-3888FC288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2F1E9"/>
                </a:solidFill>
                <a:latin typeface="Arial"/>
                <a:ea typeface="Arial"/>
                <a:cs typeface="Arial"/>
              </a:rPr>
              <a:t>Three arenas that change the fight</a:t>
            </a:r>
          </a:p>
        </p:txBody>
      </p:sp>
      <p:sp>
        <p:nvSpPr>
          <p:cNvPr id="2" name="text-24">
            <a:extLst xmlns:a="http://schemas.openxmlformats.org/drawingml/2006/main">
              <a:ext uri="{FF2B5EF4-FFF2-40B4-BE49-F238E27FC236}">
                <a16:creationId xmlns:a16="http://schemas.microsoft.com/office/drawing/2014/main" id="{BDF91F22-3A0F-4A7B-A519-2CE828839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1032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AABBD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AABBD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ABBD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CCF593-511B-4AED-A08B-B62ADBB89EC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16fd9372fc4c30"/>
          <a:stretch xmlns:a="http://schemas.openxmlformats.org/drawingml/2006/main"/>
        </p:blipFill>
        <p:spPr>
          <a:xfrm xmlns:a="http://schemas.openxmlformats.org/drawingml/2006/main">
            <a:off x="609600" y="1649016"/>
            <a:ext cx="3467100" cy="1950244"/>
          </a:xfrm>
          <a:prstGeom xmlns:a="http://schemas.openxmlformats.org/drawingml/2006/main" prst="rect">
            <a:avLst/>
          </a:prstGeom>
        </p:spPr>
      </p:pic>
      <p:sp>
        <p:nvSpPr>
          <p:cNvPr id="4" name="text-25">
            <a:extLst xmlns:a="http://schemas.openxmlformats.org/drawingml/2006/main">
              <a:ext uri="{FF2B5EF4-FFF2-40B4-BE49-F238E27FC236}">
                <a16:creationId xmlns:a16="http://schemas.microsoft.com/office/drawing/2014/main" id="{45F128C6-082D-4570-89D2-D43C6A597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00475"/>
            <a:ext cx="3467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2F1E9"/>
                </a:solidFill>
                <a:latin typeface="Arial"/>
                <a:ea typeface="Arial"/>
                <a:cs typeface="Arial"/>
              </a:rPr>
              <a:t>Arcane Citadel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F422A0-6A0F-42CC-80FE-7D6DC9C3A07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86d63bbab04fb2"/>
          <a:stretch xmlns:a="http://schemas.openxmlformats.org/drawingml/2006/main"/>
        </p:blipFill>
        <p:spPr>
          <a:xfrm xmlns:a="http://schemas.openxmlformats.org/drawingml/2006/main">
            <a:off x="4362450" y="1649016"/>
            <a:ext cx="3467100" cy="1950244"/>
          </a:xfrm>
          <a:prstGeom xmlns:a="http://schemas.openxmlformats.org/drawingml/2006/main" prst="rect">
            <a:avLst/>
          </a:prstGeom>
        </p:spPr>
      </p:pic>
      <p:sp>
        <p:nvSpPr>
          <p:cNvPr id="6" name="text-26">
            <a:extLst xmlns:a="http://schemas.openxmlformats.org/drawingml/2006/main">
              <a:ext uri="{FF2B5EF4-FFF2-40B4-BE49-F238E27FC236}">
                <a16:creationId xmlns:a16="http://schemas.microsoft.com/office/drawing/2014/main" id="{0B795803-FBD4-4856-AE71-5164B193E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800475"/>
            <a:ext cx="3467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2F1E9"/>
                </a:solidFill>
                <a:latin typeface="Arial"/>
                <a:ea typeface="Arial"/>
                <a:cs typeface="Arial"/>
              </a:rPr>
              <a:t>Molten Crucible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3EA739-4066-4835-B58F-C2711680B66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eb0618684a4868"/>
          <a:stretch xmlns:a="http://schemas.openxmlformats.org/drawingml/2006/main"/>
        </p:blipFill>
        <p:spPr>
          <a:xfrm xmlns:a="http://schemas.openxmlformats.org/drawingml/2006/main">
            <a:off x="8115300" y="1649016"/>
            <a:ext cx="3467100" cy="1950244"/>
          </a:xfrm>
          <a:prstGeom xmlns:a="http://schemas.openxmlformats.org/drawingml/2006/main" prst="rect">
            <a:avLst/>
          </a:prstGeom>
        </p:spPr>
      </p:pic>
      <p:sp>
        <p:nvSpPr>
          <p:cNvPr id="8" name="text-27">
            <a:extLst xmlns:a="http://schemas.openxmlformats.org/drawingml/2006/main">
              <a:ext uri="{FF2B5EF4-FFF2-40B4-BE49-F238E27FC236}">
                <a16:creationId xmlns:a16="http://schemas.microsoft.com/office/drawing/2014/main" id="{08C90CCC-3556-4DD9-A684-21422B174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800475"/>
            <a:ext cx="3467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2F1E9"/>
                </a:solidFill>
                <a:latin typeface="Arial"/>
                <a:ea typeface="Arial"/>
                <a:cs typeface="Arial"/>
              </a:rPr>
              <a:t>Venom Sanctum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24E3FB-537D-4CFB-97A4-9DD2F9ADE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291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C53"/>
          </a:solidFill>
          <a:ln xmlns:a="http://schemas.openxmlformats.org/drawingml/2006/main" w="0">
            <a:noFill/>
          </a:ln>
        </p:spPr>
      </p:sp>
      <p:sp>
        <p:nvSpPr>
          <p:cNvPr id="10" name="text-28">
            <a:extLst xmlns:a="http://schemas.openxmlformats.org/drawingml/2006/main">
              <a:ext uri="{FF2B5EF4-FFF2-40B4-BE49-F238E27FC236}">
                <a16:creationId xmlns:a16="http://schemas.microsoft.com/office/drawing/2014/main" id="{E8BFA772-B7CB-4119-B2D6-F10052405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477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700" b="1">
                <a:solidFill>
                  <a:srgbClr val="67DBE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67DBEC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67DBEC"/>
                </a:solidFill>
                <a:latin typeface="Arial"/>
                <a:ea typeface="Arial"/>
                <a:cs typeface="Arial"/>
              </a:rPr>
              <a:t>Free-for-all or 2v2 Team Survival</a:t>
            </a:r>
          </a:p>
        </p:txBody>
      </p:sp>
      <p:sp>
        <p:nvSpPr>
          <p:cNvPr id="11" name="text-29">
            <a:extLst xmlns:a="http://schemas.openxmlformats.org/drawingml/2006/main">
              <a:ext uri="{FF2B5EF4-FFF2-40B4-BE49-F238E27FC236}">
                <a16:creationId xmlns:a16="http://schemas.microsoft.com/office/drawing/2014/main" id="{8B8BA47D-B19B-41D3-B54F-3C94378C1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91150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F2F1E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F2F1E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2F1E9"/>
                </a:solidFill>
                <a:latin typeface="Arial"/>
                <a:ea typeface="Arial"/>
                <a:cs typeface="Arial"/>
              </a:rPr>
              <a:t>Survival allows a recovery from danger. Sudden Knockout uses instant ring-outs.</a:t>
            </a:r>
          </a:p>
        </p:txBody>
      </p:sp>
      <p:sp>
        <p:nvSpPr>
          <p:cNvPr id="12" name="text-30">
            <a:extLst xmlns:a="http://schemas.openxmlformats.org/drawingml/2006/main">
              <a:ext uri="{FF2B5EF4-FFF2-40B4-BE49-F238E27FC236}">
                <a16:creationId xmlns:a16="http://schemas.microsoft.com/office/drawing/2014/main" id="{C1DC6FB3-7032-4381-975D-B8FD54472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AABBD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AABBD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ABBD1"/>
                </a:solidFill>
                <a:latin typeface="Arial"/>
                <a:ea typeface="Arial"/>
                <a:cs typeface="Arial"/>
              </a:rPr>
              <a:t>In-engine arena captures with staged cameras</a:t>
            </a:r>
          </a:p>
        </p:txBody>
      </p:sp>
    </p:spTree>
    <p:extLst>
      <p:ext uri="{BB962C8B-B14F-4D97-AF65-F5344CB8AC3E}">
        <p14:creationId xmlns:p14="http://schemas.microsoft.com/office/powerpoint/2010/main" val="12913696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814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31">
            <a:extLst xmlns:a="http://schemas.openxmlformats.org/drawingml/2006/main">
              <a:ext uri="{FF2B5EF4-FFF2-40B4-BE49-F238E27FC236}">
                <a16:creationId xmlns:a16="http://schemas.microsoft.com/office/drawing/2014/main" id="{2E593564-5102-4009-B756-095FBA5BC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2F1E9"/>
                </a:solidFill>
                <a:latin typeface="Arial"/>
                <a:ea typeface="Arial"/>
                <a:cs typeface="Arial"/>
              </a:rPr>
              <a:t>A playable prototype is ready to review</a:t>
            </a:r>
          </a:p>
        </p:txBody>
      </p:sp>
      <p:sp>
        <p:nvSpPr>
          <p:cNvPr id="2" name="text-32">
            <a:extLst xmlns:a="http://schemas.openxmlformats.org/drawingml/2006/main">
              <a:ext uri="{FF2B5EF4-FFF2-40B4-BE49-F238E27FC236}">
                <a16:creationId xmlns:a16="http://schemas.microsoft.com/office/drawing/2014/main" id="{8A6D9B31-CEB2-4E8B-B6E8-0CEFAD4FC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1032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AABBD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AABBD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ABBD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BAF411-E46A-4B74-B1C9-A050E901377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0a607320df4dd8"/>
          <a:stretch xmlns:a="http://schemas.openxmlformats.org/drawingml/2006/main"/>
        </p:blipFill>
        <p:spPr>
          <a:xfrm xmlns:a="http://schemas.openxmlformats.org/drawingml/2006/main">
            <a:off x="609600" y="1610916"/>
            <a:ext cx="6667500" cy="3750469"/>
          </a:xfrm>
          <a:prstGeom xmlns:a="http://schemas.openxmlformats.org/drawingml/2006/main" prst="rect">
            <a:avLst/>
          </a:prstGeom>
        </p:spPr>
      </p:pic>
      <p:sp>
        <p:nvSpPr>
          <p:cNvPr id="4" name="text-33">
            <a:extLst xmlns:a="http://schemas.openxmlformats.org/drawingml/2006/main">
              <a:ext uri="{FF2B5EF4-FFF2-40B4-BE49-F238E27FC236}">
                <a16:creationId xmlns:a16="http://schemas.microsoft.com/office/drawing/2014/main" id="{5D2501BF-DE6C-4C6D-B75E-81455BBF2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6260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AABBD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AABBD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ABBD1"/>
                </a:solidFill>
                <a:latin typeface="Arial"/>
                <a:ea typeface="Arial"/>
                <a:cs typeface="Arial"/>
              </a:rPr>
              <a:t>Actual Unity Editor gameplay with offline bots</a:t>
            </a:r>
          </a:p>
        </p:txBody>
      </p:sp>
      <p:sp>
        <p:nvSpPr>
          <p:cNvPr id="5" name="text-34">
            <a:extLst xmlns:a="http://schemas.openxmlformats.org/drawingml/2006/main">
              <a:ext uri="{FF2B5EF4-FFF2-40B4-BE49-F238E27FC236}">
                <a16:creationId xmlns:a16="http://schemas.microsoft.com/office/drawing/2014/main" id="{331516FF-71B3-4CF9-9EE9-950FBED07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581150"/>
            <a:ext cx="3619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67DBE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67DBE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67DBEC"/>
                </a:solidFill>
                <a:latin typeface="Arial"/>
                <a:ea typeface="Arial"/>
                <a:cs typeface="Arial"/>
                <a:hlinkClick xmlns:r="http://schemas.openxmlformats.org/officeDocument/2006/relationships" r:id="R8fc02e1c1e1c4cb1"/>
              </a:rPr>
              <a:t>Android APK</a:t>
            </a:r>
          </a:p>
        </p:txBody>
      </p:sp>
      <p:sp>
        <p:nvSpPr>
          <p:cNvPr id="6" name="text-35">
            <a:extLst xmlns:a="http://schemas.openxmlformats.org/drawingml/2006/main">
              <a:ext uri="{FF2B5EF4-FFF2-40B4-BE49-F238E27FC236}">
                <a16:creationId xmlns:a16="http://schemas.microsoft.com/office/drawing/2014/main" id="{1638560C-7F8A-42B5-99C2-721EE21A0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095500"/>
            <a:ext cx="36957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F2F1E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F2F1E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2F1E9"/>
                </a:solidFill>
                <a:latin typeface="Arial"/>
                <a:ea typeface="Arial"/>
                <a:cs typeface="Arial"/>
              </a:rPr>
              <a:t>Preferred touchscreen experience</a:t>
            </a:r>
          </a:p>
          <a:p xmlns:a="http://schemas.openxmlformats.org/drawingml/2006/main">
            <a:pPr>
              <a:defRPr sz="1875" b="0">
                <a:solidFill>
                  <a:srgbClr val="F2F1E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2F1E9"/>
                </a:solidFill>
                <a:latin typeface="Arial"/>
                <a:ea typeface="Arial"/>
                <a:cs typeface="Arial"/>
              </a:rPr>
              <a:t>Android 8.0+ / ARM64</a:t>
            </a:r>
          </a:p>
        </p:txBody>
      </p:sp>
      <p:sp>
        <p:nvSpPr>
          <p:cNvPr id="7" name="text-36">
            <a:extLst xmlns:a="http://schemas.openxmlformats.org/drawingml/2006/main">
              <a:ext uri="{FF2B5EF4-FFF2-40B4-BE49-F238E27FC236}">
                <a16:creationId xmlns:a16="http://schemas.microsoft.com/office/drawing/2014/main" id="{177D6CA7-736E-4DC8-8CDE-E39A7DF83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105150"/>
            <a:ext cx="3695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67DBE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67DBE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67DBEC"/>
                </a:solidFill>
                <a:latin typeface="Arial"/>
                <a:ea typeface="Arial"/>
                <a:cs typeface="Arial"/>
                <a:hlinkClick xmlns:r="http://schemas.openxmlformats.org/officeDocument/2006/relationships" r:id="R8b7ee9a91ef246db"/>
              </a:rPr>
              <a:t>Windows x64 ZIP</a:t>
            </a:r>
          </a:p>
        </p:txBody>
      </p:sp>
      <p:sp>
        <p:nvSpPr>
          <p:cNvPr id="8" name="text-37">
            <a:extLst xmlns:a="http://schemas.openxmlformats.org/drawingml/2006/main">
              <a:ext uri="{FF2B5EF4-FFF2-40B4-BE49-F238E27FC236}">
                <a16:creationId xmlns:a16="http://schemas.microsoft.com/office/drawing/2014/main" id="{5434D606-4028-43CF-B8B2-31F95CF27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629025"/>
            <a:ext cx="36957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F2F1E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F2F1E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2F1E9"/>
                </a:solidFill>
                <a:latin typeface="Arial"/>
                <a:ea typeface="Arial"/>
                <a:cs typeface="Arial"/>
              </a:rPr>
              <a:t>Extract and run the prototype.</a:t>
            </a:r>
          </a:p>
          <a:p xmlns:a="http://schemas.openxmlformats.org/drawingml/2006/main">
            <a:pPr>
              <a:defRPr sz="1875" b="0">
                <a:solidFill>
                  <a:srgbClr val="F2F1E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2F1E9"/>
                </a:solidFill>
                <a:latin typeface="Arial"/>
                <a:ea typeface="Arial"/>
                <a:cs typeface="Arial"/>
              </a:rPr>
              <a:t>Start with offline bot matches.</a:t>
            </a:r>
          </a:p>
        </p:txBody>
      </p:sp>
      <p:sp>
        <p:nvSpPr>
          <p:cNvPr id="9" name="text-38">
            <a:extLst xmlns:a="http://schemas.openxmlformats.org/drawingml/2006/main">
              <a:ext uri="{FF2B5EF4-FFF2-40B4-BE49-F238E27FC236}">
                <a16:creationId xmlns:a16="http://schemas.microsoft.com/office/drawing/2014/main" id="{5ED046DB-2893-4F74-8B71-8CC969CAB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705350"/>
            <a:ext cx="366712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F4C4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F4C46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4C46A"/>
                </a:solidFill>
                <a:latin typeface="Arial"/>
                <a:ea typeface="Arial"/>
                <a:cs typeface="Arial"/>
                <a:hlinkClick xmlns:r="http://schemas.openxmlformats.org/officeDocument/2006/relationships" r:id="Rdcc6a6b899264b86"/>
              </a:rPr>
              <a:t>Watch 90 seconds of gameplay</a:t>
            </a:r>
          </a:p>
        </p:txBody>
      </p:sp>
      <p:sp>
        <p:nvSpPr>
          <p:cNvPr id="10" name="text-39">
            <a:extLst xmlns:a="http://schemas.openxmlformats.org/drawingml/2006/main">
              <a:ext uri="{FF2B5EF4-FFF2-40B4-BE49-F238E27FC236}">
                <a16:creationId xmlns:a16="http://schemas.microsoft.com/office/drawing/2014/main" id="{D1D2D8DF-E9C6-4FBD-8025-552882A62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34100"/>
            <a:ext cx="10429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AABBD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AABBD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ABBD1"/>
                </a:solidFill>
                <a:latin typeface="Arial"/>
                <a:ea typeface="Arial"/>
                <a:cs typeface="Arial"/>
              </a:rPr>
              <a:t>Online play still needs external validation.</a:t>
            </a:r>
          </a:p>
        </p:txBody>
      </p:sp>
    </p:spTree>
    <p:extLst>
      <p:ext uri="{BB962C8B-B14F-4D97-AF65-F5344CB8AC3E}">
        <p14:creationId xmlns:p14="http://schemas.microsoft.com/office/powerpoint/2010/main" val="72495087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814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40">
            <a:extLst xmlns:a="http://schemas.openxmlformats.org/drawingml/2006/main">
              <a:ext uri="{FF2B5EF4-FFF2-40B4-BE49-F238E27FC236}">
                <a16:creationId xmlns:a16="http://schemas.microsoft.com/office/drawing/2014/main" id="{6D7F281E-F458-4E90-9974-E5B0D90CF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2F1E9"/>
                </a:solidFill>
                <a:latin typeface="Arial"/>
                <a:ea typeface="Arial"/>
                <a:cs typeface="Arial"/>
              </a:rPr>
              <a:t>Competitive mobile play, cosmetic purchases</a:t>
            </a:r>
          </a:p>
        </p:txBody>
      </p:sp>
      <p:sp>
        <p:nvSpPr>
          <p:cNvPr id="2" name="text-41">
            <a:extLst xmlns:a="http://schemas.openxmlformats.org/drawingml/2006/main">
              <a:ext uri="{FF2B5EF4-FFF2-40B4-BE49-F238E27FC236}">
                <a16:creationId xmlns:a16="http://schemas.microsoft.com/office/drawing/2014/main" id="{0862B889-3405-49C0-A174-A11B8C57A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1032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AABBD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AABBD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ABBD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0CFAC3-3808-455D-909D-FAD9AD2E976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14f84a7e4740ab"/>
          <a:stretch xmlns:a="http://schemas.openxmlformats.org/drawingml/2006/main"/>
        </p:blipFill>
        <p:spPr>
          <a:xfrm xmlns:a="http://schemas.openxmlformats.org/drawingml/2006/main">
            <a:off x="7515225" y="1443038"/>
            <a:ext cx="4048125" cy="4048125"/>
          </a:xfrm>
          <a:prstGeom xmlns:a="http://schemas.openxmlformats.org/drawingml/2006/main" prst="rect">
            <a:avLst/>
          </a:prstGeom>
        </p:spPr>
      </p:pic>
      <p:sp>
        <p:nvSpPr>
          <p:cNvPr id="4" name="text-42">
            <a:extLst xmlns:a="http://schemas.openxmlformats.org/drawingml/2006/main">
              <a:ext uri="{FF2B5EF4-FFF2-40B4-BE49-F238E27FC236}">
                <a16:creationId xmlns:a16="http://schemas.microsoft.com/office/drawing/2014/main" id="{7A4475A6-A7DE-45AE-BD0A-1452B5180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657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67DBE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67DBE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67DBEC"/>
                </a:solidFill>
                <a:latin typeface="Arial"/>
                <a:ea typeface="Arial"/>
                <a:cs typeface="Arial"/>
              </a:rPr>
              <a:t>Designed for players who enjoy</a:t>
            </a:r>
          </a:p>
        </p:txBody>
      </p:sp>
      <p:sp>
        <p:nvSpPr>
          <p:cNvPr id="5" name="text-43">
            <a:extLst xmlns:a="http://schemas.openxmlformats.org/drawingml/2006/main">
              <a:ext uri="{FF2B5EF4-FFF2-40B4-BE49-F238E27FC236}">
                <a16:creationId xmlns:a16="http://schemas.microsoft.com/office/drawing/2014/main" id="{70BA162D-CAD0-4155-961D-A8818DBD3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05025"/>
            <a:ext cx="666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F2F1E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F2F1E9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2F1E9"/>
                </a:solidFill>
                <a:latin typeface="Arial"/>
                <a:ea typeface="Arial"/>
                <a:cs typeface="Arial"/>
              </a:rPr>
              <a:t>Spell duels, tactical positioning and</a:t>
            </a:r>
          </a:p>
          <a:p xmlns:a="http://schemas.openxmlformats.org/drawingml/2006/main">
            <a:pPr>
              <a:defRPr sz="2325" b="0">
                <a:solidFill>
                  <a:srgbClr val="F2F1E9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2F1E9"/>
                </a:solidFill>
                <a:latin typeface="Arial"/>
                <a:ea typeface="Arial"/>
                <a:cs typeface="Arial"/>
              </a:rPr>
              <a:t>comebacks in competitive arena matches.</a:t>
            </a:r>
          </a:p>
        </p:txBody>
      </p:sp>
      <p:sp>
        <p:nvSpPr>
          <p:cNvPr id="6" name="text-44">
            <a:extLst xmlns:a="http://schemas.openxmlformats.org/drawingml/2006/main">
              <a:ext uri="{FF2B5EF4-FFF2-40B4-BE49-F238E27FC236}">
                <a16:creationId xmlns:a16="http://schemas.microsoft.com/office/drawing/2014/main" id="{6CDBADC0-A298-4740-A660-690F4D251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657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F4C4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F4C46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4C46A"/>
                </a:solidFill>
                <a:latin typeface="Arial"/>
                <a:ea typeface="Arial"/>
                <a:cs typeface="Arial"/>
              </a:rPr>
              <a:t>Planned revenue model</a:t>
            </a:r>
          </a:p>
        </p:txBody>
      </p:sp>
      <p:sp>
        <p:nvSpPr>
          <p:cNvPr id="7" name="text-45">
            <a:extLst xmlns:a="http://schemas.openxmlformats.org/drawingml/2006/main">
              <a:ext uri="{FF2B5EF4-FFF2-40B4-BE49-F238E27FC236}">
                <a16:creationId xmlns:a16="http://schemas.microsoft.com/office/drawing/2014/main" id="{233B9F16-8579-459A-A779-099743613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76725"/>
            <a:ext cx="66675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F2F1E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F2F1E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F1E9"/>
                </a:solidFill>
                <a:latin typeface="Arial"/>
                <a:ea typeface="Arial"/>
                <a:cs typeface="Arial"/>
              </a:rPr>
              <a:t>Optional wizard skins, staff designs and</a:t>
            </a:r>
          </a:p>
          <a:p xmlns:a="http://schemas.openxmlformats.org/drawingml/2006/main">
            <a:pPr>
              <a:defRPr sz="2100" b="0">
                <a:solidFill>
                  <a:srgbClr val="F2F1E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F1E9"/>
                </a:solidFill>
                <a:latin typeface="Arial"/>
                <a:ea typeface="Arial"/>
                <a:cs typeface="Arial"/>
              </a:rPr>
              <a:t>visual customization. Purchases would</a:t>
            </a:r>
          </a:p>
          <a:p xmlns:a="http://schemas.openxmlformats.org/drawingml/2006/main">
            <a:pPr>
              <a:defRPr sz="2100" b="0">
                <a:solidFill>
                  <a:srgbClr val="F2F1E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F1E9"/>
                </a:solidFill>
                <a:latin typeface="Arial"/>
                <a:ea typeface="Arial"/>
                <a:cs typeface="Arial"/>
              </a:rPr>
              <a:t>not increase spell power.</a:t>
            </a:r>
          </a:p>
        </p:txBody>
      </p:sp>
      <p:sp>
        <p:nvSpPr>
          <p:cNvPr id="8" name="text-46">
            <a:extLst xmlns:a="http://schemas.openxmlformats.org/drawingml/2006/main">
              <a:ext uri="{FF2B5EF4-FFF2-40B4-BE49-F238E27FC236}">
                <a16:creationId xmlns:a16="http://schemas.microsoft.com/office/drawing/2014/main" id="{B7DA6BB9-335A-45A5-A92E-56AACE078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05525"/>
            <a:ext cx="1076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AABBD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AABBD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AABBD1"/>
                </a:solidFill>
                <a:latin typeface="Arial"/>
                <a:ea typeface="Arial"/>
                <a:cs typeface="Arial"/>
              </a:rPr>
              <a:t>Pre-launch • Cosmetic purchases are not implemented or validated.</a:t>
            </a:r>
          </a:p>
        </p:txBody>
      </p:sp>
    </p:spTree>
    <p:extLst>
      <p:ext uri="{BB962C8B-B14F-4D97-AF65-F5344CB8AC3E}">
        <p14:creationId xmlns:p14="http://schemas.microsoft.com/office/powerpoint/2010/main" val="29837503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814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47">
            <a:extLst xmlns:a="http://schemas.openxmlformats.org/drawingml/2006/main">
              <a:ext uri="{FF2B5EF4-FFF2-40B4-BE49-F238E27FC236}">
                <a16:creationId xmlns:a16="http://schemas.microsoft.com/office/drawing/2014/main" id="{35CC50BA-B611-4F43-8CBF-F6B7A279B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2F1E9"/>
                </a:solidFill>
                <a:latin typeface="Arial"/>
                <a:ea typeface="Arial"/>
                <a:cs typeface="Arial"/>
              </a:rPr>
              <a:t>The next milestone is external validation</a:t>
            </a:r>
          </a:p>
        </p:txBody>
      </p:sp>
      <p:sp>
        <p:nvSpPr>
          <p:cNvPr id="2" name="text-48">
            <a:extLst xmlns:a="http://schemas.openxmlformats.org/drawingml/2006/main">
              <a:ext uri="{FF2B5EF4-FFF2-40B4-BE49-F238E27FC236}">
                <a16:creationId xmlns:a16="http://schemas.microsoft.com/office/drawing/2014/main" id="{00BD8666-1AED-4643-BCAE-3BF75228A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1032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AABBD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AABBD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ABBD1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7ECB98-6264-41B3-B46E-1C34E8FE8AB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45c33688244dd2"/>
          <a:stretch xmlns:a="http://schemas.openxmlformats.org/drawingml/2006/main"/>
        </p:blipFill>
        <p:spPr>
          <a:xfrm xmlns:a="http://schemas.openxmlformats.org/drawingml/2006/main">
            <a:off x="609600" y="1638300"/>
            <a:ext cx="6096000" cy="3429000"/>
          </a:xfrm>
          <a:prstGeom xmlns:a="http://schemas.openxmlformats.org/drawingml/2006/main" prst="rect">
            <a:avLst/>
          </a:prstGeom>
        </p:spPr>
      </p:pic>
      <p:sp>
        <p:nvSpPr>
          <p:cNvPr id="4" name="text-49">
            <a:extLst xmlns:a="http://schemas.openxmlformats.org/drawingml/2006/main">
              <a:ext uri="{FF2B5EF4-FFF2-40B4-BE49-F238E27FC236}">
                <a16:creationId xmlns:a16="http://schemas.microsoft.com/office/drawing/2014/main" id="{061A6792-6B9F-4BE9-8418-F650FB066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1552575"/>
            <a:ext cx="4286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F4C4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F4C46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4C46A"/>
                </a:solidFill>
                <a:latin typeface="Arial"/>
                <a:ea typeface="Arial"/>
                <a:cs typeface="Arial"/>
              </a:rPr>
              <a:t>Prototype playtest questions</a:t>
            </a:r>
          </a:p>
        </p:txBody>
      </p:sp>
      <p:sp>
        <p:nvSpPr>
          <p:cNvPr id="5" name="text-50">
            <a:extLst xmlns:a="http://schemas.openxmlformats.org/drawingml/2006/main">
              <a:ext uri="{FF2B5EF4-FFF2-40B4-BE49-F238E27FC236}">
                <a16:creationId xmlns:a16="http://schemas.microsoft.com/office/drawing/2014/main" id="{C841A15F-923A-472C-A528-780E41F0C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171700"/>
            <a:ext cx="42862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F2F1E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F2F1E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2F1E9"/>
                </a:solidFill>
                <a:latin typeface="Arial"/>
                <a:ea typeface="Arial"/>
                <a:cs typeface="Arial"/>
              </a:rPr>
              <a:t>Can new players understand and use</a:t>
            </a:r>
          </a:p>
          <a:p xmlns:a="http://schemas.openxmlformats.org/drawingml/2006/main">
            <a:pPr>
              <a:defRPr sz="2025" b="0">
                <a:solidFill>
                  <a:srgbClr val="F2F1E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2F1E9"/>
                </a:solidFill>
                <a:latin typeface="Arial"/>
                <a:ea typeface="Arial"/>
                <a:cs typeface="Arial"/>
              </a:rPr>
              <a:t>the full spell loadout?</a:t>
            </a:r>
          </a:p>
        </p:txBody>
      </p:sp>
      <p:sp>
        <p:nvSpPr>
          <p:cNvPr id="6" name="text-51">
            <a:extLst xmlns:a="http://schemas.openxmlformats.org/drawingml/2006/main">
              <a:ext uri="{FF2B5EF4-FFF2-40B4-BE49-F238E27FC236}">
                <a16:creationId xmlns:a16="http://schemas.microsoft.com/office/drawing/2014/main" id="{B6646A50-1332-4459-AF3A-87237A32E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324225"/>
            <a:ext cx="42862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F2F1E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F2F1E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2F1E9"/>
                </a:solidFill>
                <a:latin typeface="Arial"/>
                <a:ea typeface="Arial"/>
                <a:cs typeface="Arial"/>
              </a:rPr>
              <a:t>Does online combat stay responsive</a:t>
            </a:r>
          </a:p>
          <a:p xmlns:a="http://schemas.openxmlformats.org/drawingml/2006/main">
            <a:pPr>
              <a:defRPr sz="2025" b="0">
                <a:solidFill>
                  <a:srgbClr val="F2F1E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2F1E9"/>
                </a:solidFill>
                <a:latin typeface="Arial"/>
                <a:ea typeface="Arial"/>
                <a:cs typeface="Arial"/>
              </a:rPr>
              <a:t>and readable on target devices?</a:t>
            </a:r>
          </a:p>
        </p:txBody>
      </p:sp>
      <p:sp>
        <p:nvSpPr>
          <p:cNvPr id="7" name="text-52">
            <a:extLst xmlns:a="http://schemas.openxmlformats.org/drawingml/2006/main">
              <a:ext uri="{FF2B5EF4-FFF2-40B4-BE49-F238E27FC236}">
                <a16:creationId xmlns:a16="http://schemas.microsoft.com/office/drawing/2014/main" id="{EC254331-2E8A-47B4-B89E-5B2BC80DF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476750"/>
            <a:ext cx="42862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F2F1E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F2F1E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2F1E9"/>
                </a:solidFill>
                <a:latin typeface="Arial"/>
                <a:ea typeface="Arial"/>
                <a:cs typeface="Arial"/>
              </a:rPr>
              <a:t>Do players want another match</a:t>
            </a:r>
          </a:p>
          <a:p xmlns:a="http://schemas.openxmlformats.org/drawingml/2006/main">
            <a:pPr>
              <a:defRPr sz="2025" b="0">
                <a:solidFill>
                  <a:srgbClr val="F2F1E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2F1E9"/>
                </a:solidFill>
                <a:latin typeface="Arial"/>
                <a:ea typeface="Arial"/>
                <a:cs typeface="Arial"/>
              </a:rPr>
              <a:t>after learning the core loop?</a:t>
            </a:r>
          </a:p>
        </p:txBody>
      </p:sp>
      <p:sp>
        <p:nvSpPr>
          <p:cNvPr id="8" name="text-53">
            <a:extLst xmlns:a="http://schemas.openxmlformats.org/drawingml/2006/main">
              <a:ext uri="{FF2B5EF4-FFF2-40B4-BE49-F238E27FC236}">
                <a16:creationId xmlns:a16="http://schemas.microsoft.com/office/drawing/2014/main" id="{2E8EAA7F-8139-4698-B371-603522BAF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34025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67DBE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67DBE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7DBEC"/>
                </a:solidFill>
                <a:latin typeface="Arial"/>
                <a:ea typeface="Arial"/>
                <a:cs typeface="Arial"/>
              </a:rPr>
              <a:t>First priorities: clearer spell controls, multiplayer testing and device performance.</a:t>
            </a:r>
          </a:p>
        </p:txBody>
      </p:sp>
    </p:spTree>
    <p:extLst>
      <p:ext uri="{BB962C8B-B14F-4D97-AF65-F5344CB8AC3E}">
        <p14:creationId xmlns:p14="http://schemas.microsoft.com/office/powerpoint/2010/main" val="40203144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814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-54">
            <a:extLst xmlns:a="http://schemas.openxmlformats.org/drawingml/2006/main">
              <a:ext uri="{FF2B5EF4-FFF2-40B4-BE49-F238E27FC236}">
                <a16:creationId xmlns:a16="http://schemas.microsoft.com/office/drawing/2014/main" id="{C4D1EA85-0716-46C4-9CEF-F19914CD1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2F1E9"/>
                </a:solidFill>
                <a:latin typeface="Arial"/>
                <a:ea typeface="Arial"/>
                <a:cs typeface="Arial"/>
              </a:rPr>
              <a:t>Solo today. A small team with funding.</a:t>
            </a:r>
          </a:p>
        </p:txBody>
      </p:sp>
      <p:sp>
        <p:nvSpPr>
          <p:cNvPr id="2" name="text-55">
            <a:extLst xmlns:a="http://schemas.openxmlformats.org/drawingml/2006/main">
              <a:ext uri="{FF2B5EF4-FFF2-40B4-BE49-F238E27FC236}">
                <a16:creationId xmlns:a16="http://schemas.microsoft.com/office/drawing/2014/main" id="{E3BE4954-CEF1-4C81-995B-8D4B92E52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1032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AABBD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AABBD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ABBD1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" name="text-56">
            <a:extLst xmlns:a="http://schemas.openxmlformats.org/drawingml/2006/main">
              <a:ext uri="{FF2B5EF4-FFF2-40B4-BE49-F238E27FC236}">
                <a16:creationId xmlns:a16="http://schemas.microsoft.com/office/drawing/2014/main" id="{A2BF3480-AA8D-48A9-A258-1A3F30678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52575"/>
            <a:ext cx="685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F4C4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F4C46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4C46A"/>
                </a:solidFill>
                <a:latin typeface="Arial"/>
                <a:ea typeface="Arial"/>
                <a:cs typeface="Arial"/>
              </a:rPr>
              <a:t>Min Thu Kyaw</a:t>
            </a:r>
          </a:p>
        </p:txBody>
      </p:sp>
      <p:sp>
        <p:nvSpPr>
          <p:cNvPr id="4" name="text-57">
            <a:extLst xmlns:a="http://schemas.openxmlformats.org/drawingml/2006/main">
              <a:ext uri="{FF2B5EF4-FFF2-40B4-BE49-F238E27FC236}">
                <a16:creationId xmlns:a16="http://schemas.microsoft.com/office/drawing/2014/main" id="{73B34386-906A-4CA8-99BB-5572ADEF3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1066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F2F1E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F2F1E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F1E9"/>
                </a:solidFill>
                <a:latin typeface="Arial"/>
                <a:ea typeface="Arial"/>
                <a:cs typeface="Arial"/>
              </a:rPr>
              <a:t>Software engineer and AI product manager</a:t>
            </a:r>
          </a:p>
          <a:p xmlns:a="http://schemas.openxmlformats.org/drawingml/2006/main">
            <a:pPr>
              <a:defRPr sz="2100" b="0">
                <a:solidFill>
                  <a:srgbClr val="F2F1E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F1E9"/>
                </a:solidFill>
                <a:latin typeface="Arial"/>
                <a:ea typeface="Arial"/>
                <a:cs typeface="Arial"/>
              </a:rPr>
              <a:t>Myanmar • 12+ years in software and product delivery</a:t>
            </a:r>
          </a:p>
        </p:txBody>
      </p:sp>
      <p:sp>
        <p:nvSpPr>
          <p:cNvPr id="5" name="text-58">
            <a:extLst xmlns:a="http://schemas.openxmlformats.org/drawingml/2006/main">
              <a:ext uri="{FF2B5EF4-FFF2-40B4-BE49-F238E27FC236}">
                <a16:creationId xmlns:a16="http://schemas.microsoft.com/office/drawing/2014/main" id="{B55C820B-EC9C-4ECA-8B0C-03119020B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71850"/>
            <a:ext cx="1047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9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9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F2F1E9"/>
                </a:solidFill>
                <a:latin typeface="Arial"/>
                <a:ea typeface="Arial"/>
                <a:cs typeface="Arial"/>
              </a:rPr>
              <a:t>“I started ArcaneKnockout to make a game</a:t>
            </a:r>
          </a:p>
          <a:p xmlns:a="http://schemas.openxmlformats.org/drawingml/2006/main">
            <a:pPr>
              <a:defRPr sz="29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F2F1E9"/>
                </a:solidFill>
                <a:latin typeface="Arial"/>
                <a:ea typeface="Arial"/>
                <a:cs typeface="Arial"/>
              </a:rPr>
              <a:t>I wanted to play myself.”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2C21FC-0B56-4802-8FF7-46C324F60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863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C53"/>
          </a:solidFill>
          <a:ln xmlns:a="http://schemas.openxmlformats.org/drawingml/2006/main" w="0">
            <a:noFill/>
          </a:ln>
        </p:spPr>
      </p:sp>
      <p:sp>
        <p:nvSpPr>
          <p:cNvPr id="7" name="text-59">
            <a:extLst xmlns:a="http://schemas.openxmlformats.org/drawingml/2006/main">
              <a:ext uri="{FF2B5EF4-FFF2-40B4-BE49-F238E27FC236}">
                <a16:creationId xmlns:a16="http://schemas.microsoft.com/office/drawing/2014/main" id="{98FC4CB2-6677-4848-8DD9-E10624E21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00625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67DBE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67DBE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67DBEC"/>
                </a:solidFill>
                <a:latin typeface="Arial"/>
                <a:ea typeface="Arial"/>
                <a:cs typeface="Arial"/>
              </a:rPr>
              <a:t>Current</a:t>
            </a:r>
          </a:p>
        </p:txBody>
      </p:sp>
      <p:sp>
        <p:nvSpPr>
          <p:cNvPr id="8" name="text-60">
            <a:extLst xmlns:a="http://schemas.openxmlformats.org/drawingml/2006/main">
              <a:ext uri="{FF2B5EF4-FFF2-40B4-BE49-F238E27FC236}">
                <a16:creationId xmlns:a16="http://schemas.microsoft.com/office/drawing/2014/main" id="{2EABC7BA-9BDA-454B-8BAC-46F9B87B6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76875"/>
            <a:ext cx="314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F2F1E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F2F1E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2F1E9"/>
                </a:solidFill>
                <a:latin typeface="Arial"/>
                <a:ea typeface="Arial"/>
                <a:cs typeface="Arial"/>
              </a:rPr>
              <a:t>Solo developer, using</a:t>
            </a:r>
          </a:p>
          <a:p xmlns:a="http://schemas.openxmlformats.org/drawingml/2006/main">
            <a:pPr>
              <a:defRPr sz="1875" b="0">
                <a:solidFill>
                  <a:srgbClr val="F2F1E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2F1E9"/>
                </a:solidFill>
                <a:latin typeface="Arial"/>
                <a:ea typeface="Arial"/>
                <a:cs typeface="Arial"/>
              </a:rPr>
              <a:t>AI-assisted coding.</a:t>
            </a:r>
          </a:p>
        </p:txBody>
      </p:sp>
      <p:sp>
        <p:nvSpPr>
          <p:cNvPr id="9" name="text-61">
            <a:extLst xmlns:a="http://schemas.openxmlformats.org/drawingml/2006/main">
              <a:ext uri="{FF2B5EF4-FFF2-40B4-BE49-F238E27FC236}">
                <a16:creationId xmlns:a16="http://schemas.microsoft.com/office/drawing/2014/main" id="{49B361C4-AC9C-4B61-BCE7-4B45FBC30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000625"/>
            <a:ext cx="676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67DBE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67DBE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67DBEC"/>
                </a:solidFill>
                <a:latin typeface="Arial"/>
                <a:ea typeface="Arial"/>
                <a:cs typeface="Arial"/>
              </a:rPr>
              <a:t>Planned after funding</a:t>
            </a:r>
          </a:p>
        </p:txBody>
      </p:sp>
      <p:sp>
        <p:nvSpPr>
          <p:cNvPr id="10" name="text-62">
            <a:extLst xmlns:a="http://schemas.openxmlformats.org/drawingml/2006/main">
              <a:ext uri="{FF2B5EF4-FFF2-40B4-BE49-F238E27FC236}">
                <a16:creationId xmlns:a16="http://schemas.microsoft.com/office/drawing/2014/main" id="{0CFC9109-80A7-472D-8726-6EB13F4B1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476875"/>
            <a:ext cx="71913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F2F1E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F2F1E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2F1E9"/>
                </a:solidFill>
                <a:latin typeface="Arial"/>
                <a:ea typeface="Arial"/>
                <a:cs typeface="Arial"/>
              </a:rPr>
              <a:t>Hire two developers for gameplay, networking,</a:t>
            </a:r>
          </a:p>
          <a:p xmlns:a="http://schemas.openxmlformats.org/drawingml/2006/main">
            <a:pPr>
              <a:defRPr sz="1875" b="0">
                <a:solidFill>
                  <a:srgbClr val="F2F1E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2F1E9"/>
                </a:solidFill>
                <a:latin typeface="Arial"/>
                <a:ea typeface="Arial"/>
                <a:cs typeface="Arial"/>
              </a:rPr>
              <a:t>performance and release preparation.</a:t>
            </a:r>
          </a:p>
        </p:txBody>
      </p:sp>
      <p:sp>
        <p:nvSpPr>
          <p:cNvPr id="11" name="text-63">
            <a:extLst xmlns:a="http://schemas.openxmlformats.org/drawingml/2006/main">
              <a:ext uri="{FF2B5EF4-FFF2-40B4-BE49-F238E27FC236}">
                <a16:creationId xmlns:a16="http://schemas.microsoft.com/office/drawing/2014/main" id="{BE16B846-9D10-4689-A108-19161E856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AABBD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AABBD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ABBD1"/>
                </a:solidFill>
                <a:latin typeface="Arial"/>
                <a:ea typeface="Arial"/>
                <a:cs typeface="Arial"/>
                <a:hlinkClick xmlns:r="http://schemas.openxmlformats.org/officeDocument/2006/relationships" r:id="Rb37a7eff90254932"/>
              </a:rPr>
              <a:t>Personal portfolio: minthukyaw.com</a:t>
            </a:r>
          </a:p>
        </p:txBody>
      </p:sp>
    </p:spTree>
    <p:extLst>
      <p:ext uri="{BB962C8B-B14F-4D97-AF65-F5344CB8AC3E}">
        <p14:creationId xmlns:p14="http://schemas.microsoft.com/office/powerpoint/2010/main" val="187961981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814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64">
            <a:extLst xmlns:a="http://schemas.openxmlformats.org/drawingml/2006/main">
              <a:ext uri="{FF2B5EF4-FFF2-40B4-BE49-F238E27FC236}">
                <a16:creationId xmlns:a16="http://schemas.microsoft.com/office/drawing/2014/main" id="{E597F09F-242B-4002-9A73-0B08243CE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2F1E9"/>
                </a:solidFill>
                <a:latin typeface="Arial"/>
                <a:ea typeface="Arial"/>
                <a:cs typeface="Arial"/>
              </a:rPr>
              <a:t>Four funded months toward a 2027 release</a:t>
            </a:r>
          </a:p>
        </p:txBody>
      </p:sp>
      <p:sp>
        <p:nvSpPr>
          <p:cNvPr id="2" name="text-65">
            <a:extLst xmlns:a="http://schemas.openxmlformats.org/drawingml/2006/main">
              <a:ext uri="{FF2B5EF4-FFF2-40B4-BE49-F238E27FC236}">
                <a16:creationId xmlns:a16="http://schemas.microsoft.com/office/drawing/2014/main" id="{88FA92AC-33CF-4DD0-92FE-9E0F805B6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1032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AABBD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AABBD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ABBD1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68D994-E533-4684-9EC2-8E7F564BF4F1}"/>
              </a:ext>
            </a:extLst>
          </p:cNvPr>
          <p:cNvGraphicFramePr/>
          <p:nvPr/>
        </p:nvGraphicFramePr>
        <p:xfrm>
          <a:off xmlns:a="http://schemas.openxmlformats.org/drawingml/2006/main" x="609600" y="1600200"/>
          <a:ext xmlns:a="http://schemas.openxmlformats.org/drawingml/2006/main" cx="10972800" cy="37814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85900"/>
                <a:gridCol w="5667375"/>
                <a:gridCol w="3819525"/>
              </a:tblGrid>
              <a:tr h="75628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67DBEC"/>
                          </a:solidFill>
                          <a:latin typeface="Arial"/>
                          <a:ea typeface="Arial"/>
                          <a:cs typeface="Arial"/>
                        </a:rPr>
                        <a:t>Period</a:t>
                      </a:r>
                    </a:p>
                  </a:txBody>
                  <a:tcPr marL="114300" marR="114300" marT="76200" marB="76200" anchor="ctr">
                    <a:lnL w="9525">
                      <a:solidFill>
                        <a:srgbClr val="2A3C53"/>
                      </a:solidFill>
                      <a:prstDash val="solid"/>
                    </a:lnL>
                    <a:lnR w="9525">
                      <a:solidFill>
                        <a:srgbClr val="2A3C53"/>
                      </a:solidFill>
                      <a:prstDash val="solid"/>
                    </a:lnR>
                    <a:lnT w="9525">
                      <a:solidFill>
                        <a:srgbClr val="2A3C53"/>
                      </a:solidFill>
                      <a:prstDash val="solid"/>
                    </a:lnT>
                    <a:lnB w="9525">
                      <a:solidFill>
                        <a:srgbClr val="2A3C53"/>
                      </a:solidFill>
                      <a:prstDash val="solid"/>
                    </a:lnB>
                    <a:solidFill>
                      <a:srgbClr val="1124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67DBEC"/>
                          </a:solidFill>
                          <a:latin typeface="Arial"/>
                          <a:ea typeface="Arial"/>
                          <a:cs typeface="Arial"/>
                        </a:rPr>
                        <a:t>Main work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2A3C53"/>
                      </a:solidFill>
                      <a:prstDash val="solid"/>
                    </a:lnR>
                    <a:lnT w="9525">
                      <a:solidFill>
                        <a:srgbClr val="2A3C53"/>
                      </a:solidFill>
                      <a:prstDash val="solid"/>
                    </a:lnT>
                    <a:lnB w="9525">
                      <a:solidFill>
                        <a:srgbClr val="2A3C53"/>
                      </a:solidFill>
                      <a:prstDash val="solid"/>
                    </a:lnB>
                    <a:solidFill>
                      <a:srgbClr val="1124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67DBEC"/>
                          </a:solidFill>
                          <a:latin typeface="Arial"/>
                          <a:ea typeface="Arial"/>
                          <a:cs typeface="Arial"/>
                        </a:rPr>
                        <a:t>Review outcome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2A3C53"/>
                      </a:solidFill>
                      <a:prstDash val="solid"/>
                    </a:lnR>
                    <a:lnT w="9525">
                      <a:solidFill>
                        <a:srgbClr val="2A3C53"/>
                      </a:solidFill>
                      <a:prstDash val="solid"/>
                    </a:lnT>
                    <a:lnB w="9525">
                      <a:solidFill>
                        <a:srgbClr val="2A3C53"/>
                      </a:solidFill>
                      <a:prstDash val="solid"/>
                    </a:lnB>
                    <a:solidFill>
                      <a:srgbClr val="11243A"/>
                    </a:solidFill>
                  </a:tcPr>
                </a:tc>
              </a:tr>
              <a:tr h="75628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F2F1E9"/>
                          </a:solidFill>
                          <a:latin typeface="Arial"/>
                          <a:ea typeface="Arial"/>
                          <a:cs typeface="Arial"/>
                        </a:rPr>
                        <a:t>Month 1</a:t>
                      </a:r>
                    </a:p>
                  </a:txBody>
                  <a:tcPr marL="114300" marR="114300" marT="76200" marB="76200" anchor="ctr">
                    <a:lnL w="9525">
                      <a:solidFill>
                        <a:srgbClr val="2A3C53"/>
                      </a:solidFill>
                      <a:prstDash val="solid"/>
                    </a:lnL>
                    <a:lnR w="9525">
                      <a:solidFill>
                        <a:srgbClr val="2A3C53"/>
                      </a:solidFill>
                      <a:prstDash val="solid"/>
                    </a:lnR>
                    <a:lnB w="9525">
                      <a:solidFill>
                        <a:srgbClr val="2A3C53"/>
                      </a:solidFill>
                      <a:prstDash val="solid"/>
                    </a:lnB>
                    <a:solidFill>
                      <a:srgbClr val="0814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F2F1E9"/>
                          </a:solidFill>
                          <a:latin typeface="Arial"/>
                          <a:ea typeface="Arial"/>
                          <a:cs typeface="Arial"/>
                        </a:rPr>
                        <a:t>Onboard hires, improve controls</a:t>
                      </a:r>
                    </a:p>
                    <a:p>
                      <a:r>
                        <a:rPr sz="1875">
                          <a:solidFill>
                            <a:srgbClr val="F2F1E9"/>
                          </a:solidFill>
                          <a:latin typeface="Arial"/>
                          <a:ea typeface="Arial"/>
                          <a:cs typeface="Arial"/>
                        </a:rPr>
                        <a:t>and finish core gameplay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2A3C53"/>
                      </a:solidFill>
                      <a:prstDash val="solid"/>
                    </a:lnR>
                    <a:lnB w="9525">
                      <a:solidFill>
                        <a:srgbClr val="2A3C53"/>
                      </a:solidFill>
                      <a:prstDash val="solid"/>
                    </a:lnB>
                    <a:solidFill>
                      <a:srgbClr val="0814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F2F1E9"/>
                          </a:solidFill>
                          <a:latin typeface="Arial"/>
                          <a:ea typeface="Arial"/>
                          <a:cs typeface="Arial"/>
                        </a:rPr>
                        <a:t>A clearer, complete core loop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2A3C53"/>
                      </a:solidFill>
                      <a:prstDash val="solid"/>
                    </a:lnR>
                    <a:lnB w="9525">
                      <a:solidFill>
                        <a:srgbClr val="2A3C53"/>
                      </a:solidFill>
                      <a:prstDash val="solid"/>
                    </a:lnB>
                    <a:solidFill>
                      <a:srgbClr val="081424"/>
                    </a:solidFill>
                  </a:tcPr>
                </a:tc>
              </a:tr>
              <a:tr h="75628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F2F1E9"/>
                          </a:solidFill>
                          <a:latin typeface="Arial"/>
                          <a:ea typeface="Arial"/>
                          <a:cs typeface="Arial"/>
                        </a:rPr>
                        <a:t>Month 2</a:t>
                      </a:r>
                    </a:p>
                  </a:txBody>
                  <a:tcPr marL="114300" marR="114300" marT="76200" marB="76200" anchor="ctr">
                    <a:lnL w="9525">
                      <a:solidFill>
                        <a:srgbClr val="2A3C53"/>
                      </a:solidFill>
                      <a:prstDash val="solid"/>
                    </a:lnL>
                    <a:lnR w="9525">
                      <a:solidFill>
                        <a:srgbClr val="2A3C53"/>
                      </a:solidFill>
                      <a:prstDash val="solid"/>
                    </a:lnR>
                    <a:lnB w="9525">
                      <a:solidFill>
                        <a:srgbClr val="2A3C53"/>
                      </a:solidFill>
                      <a:prstDash val="solid"/>
                    </a:lnB>
                    <a:solidFill>
                      <a:srgbClr val="0814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F2F1E9"/>
                          </a:solidFill>
                          <a:latin typeface="Arial"/>
                          <a:ea typeface="Arial"/>
                          <a:cs typeface="Arial"/>
                        </a:rPr>
                        <a:t>Polish content, UI and audio</a:t>
                      </a:r>
                    </a:p>
                    <a:p>
                      <a:r>
                        <a:rPr sz="1875">
                          <a:solidFill>
                            <a:srgbClr val="F2F1E9"/>
                          </a:solidFill>
                          <a:latin typeface="Arial"/>
                          <a:ea typeface="Arial"/>
                          <a:cs typeface="Arial"/>
                        </a:rPr>
                        <a:t>Validate networking and performance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2A3C53"/>
                      </a:solidFill>
                      <a:prstDash val="solid"/>
                    </a:lnR>
                    <a:lnB w="9525">
                      <a:solidFill>
                        <a:srgbClr val="2A3C53"/>
                      </a:solidFill>
                      <a:prstDash val="solid"/>
                    </a:lnB>
                    <a:solidFill>
                      <a:srgbClr val="0814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F2F1E9"/>
                          </a:solidFill>
                          <a:latin typeface="Arial"/>
                          <a:ea typeface="Arial"/>
                          <a:cs typeface="Arial"/>
                        </a:rPr>
                        <a:t>Build ready for external tests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2A3C53"/>
                      </a:solidFill>
                      <a:prstDash val="solid"/>
                    </a:lnR>
                    <a:lnB w="9525">
                      <a:solidFill>
                        <a:srgbClr val="2A3C53"/>
                      </a:solidFill>
                      <a:prstDash val="solid"/>
                    </a:lnB>
                    <a:solidFill>
                      <a:srgbClr val="081424"/>
                    </a:solidFill>
                  </a:tcPr>
                </a:tc>
              </a:tr>
              <a:tr h="75628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F2F1E9"/>
                          </a:solidFill>
                          <a:latin typeface="Arial"/>
                          <a:ea typeface="Arial"/>
                          <a:cs typeface="Arial"/>
                        </a:rPr>
                        <a:t>Month 3</a:t>
                      </a:r>
                    </a:p>
                  </a:txBody>
                  <a:tcPr marL="114300" marR="114300" marT="76200" marB="76200" anchor="ctr">
                    <a:lnL w="9525">
                      <a:solidFill>
                        <a:srgbClr val="2A3C53"/>
                      </a:solidFill>
                      <a:prstDash val="solid"/>
                    </a:lnL>
                    <a:lnR w="9525">
                      <a:solidFill>
                        <a:srgbClr val="2A3C53"/>
                      </a:solidFill>
                      <a:prstDash val="solid"/>
                    </a:lnR>
                    <a:lnB w="9525">
                      <a:solidFill>
                        <a:srgbClr val="2A3C53"/>
                      </a:solidFill>
                      <a:prstDash val="solid"/>
                    </a:lnB>
                    <a:solidFill>
                      <a:srgbClr val="0814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F2F1E9"/>
                          </a:solidFill>
                          <a:latin typeface="Arial"/>
                          <a:ea typeface="Arial"/>
                          <a:cs typeface="Arial"/>
                        </a:rPr>
                        <a:t>Run multiplayer and external playtests</a:t>
                      </a:r>
                    </a:p>
                    <a:p>
                      <a:r>
                        <a:rPr sz="1875">
                          <a:solidFill>
                            <a:srgbClr val="F2F1E9"/>
                          </a:solidFill>
                          <a:latin typeface="Arial"/>
                          <a:ea typeface="Arial"/>
                          <a:cs typeface="Arial"/>
                        </a:rPr>
                        <a:t>Resolve crashes, balance and usability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2A3C53"/>
                      </a:solidFill>
                      <a:prstDash val="solid"/>
                    </a:lnR>
                    <a:lnB w="9525">
                      <a:solidFill>
                        <a:srgbClr val="2A3C53"/>
                      </a:solidFill>
                      <a:prstDash val="solid"/>
                    </a:lnB>
                    <a:solidFill>
                      <a:srgbClr val="0814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F2F1E9"/>
                          </a:solidFill>
                          <a:latin typeface="Arial"/>
                          <a:ea typeface="Arial"/>
                          <a:cs typeface="Arial"/>
                        </a:rPr>
                        <a:t>Evidence for release decisions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2A3C53"/>
                      </a:solidFill>
                      <a:prstDash val="solid"/>
                    </a:lnR>
                    <a:lnB w="9525">
                      <a:solidFill>
                        <a:srgbClr val="2A3C53"/>
                      </a:solidFill>
                      <a:prstDash val="solid"/>
                    </a:lnB>
                    <a:solidFill>
                      <a:srgbClr val="081424"/>
                    </a:solidFill>
                  </a:tcPr>
                </a:tc>
              </a:tr>
              <a:tr h="75628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F2F1E9"/>
                          </a:solidFill>
                          <a:latin typeface="Arial"/>
                          <a:ea typeface="Arial"/>
                          <a:cs typeface="Arial"/>
                        </a:rPr>
                        <a:t>Month 4</a:t>
                      </a:r>
                    </a:p>
                  </a:txBody>
                  <a:tcPr marL="114300" marR="114300" marT="76200" marB="76200" anchor="ctr">
                    <a:lnL w="9525">
                      <a:solidFill>
                        <a:srgbClr val="2A3C53"/>
                      </a:solidFill>
                      <a:prstDash val="solid"/>
                    </a:lnL>
                    <a:lnR w="9525">
                      <a:solidFill>
                        <a:srgbClr val="2A3C53"/>
                      </a:solidFill>
                      <a:prstDash val="solid"/>
                    </a:lnR>
                    <a:lnB w="9525">
                      <a:solidFill>
                        <a:srgbClr val="2A3C53"/>
                      </a:solidFill>
                      <a:prstDash val="solid"/>
                    </a:lnB>
                    <a:solidFill>
                      <a:srgbClr val="0814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F2F1E9"/>
                          </a:solidFill>
                          <a:latin typeface="Arial"/>
                          <a:ea typeface="Arial"/>
                          <a:cs typeface="Arial"/>
                        </a:rPr>
                        <a:t>Complete QA and store preparation</a:t>
                      </a:r>
                    </a:p>
                    <a:p>
                      <a:r>
                        <a:rPr sz="1875">
                          <a:solidFill>
                            <a:srgbClr val="F2F1E9"/>
                          </a:solidFill>
                          <a:latin typeface="Arial"/>
                          <a:ea typeface="Arial"/>
                          <a:cs typeface="Arial"/>
                        </a:rPr>
                        <a:t>Fix remaining release blockers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2A3C53"/>
                      </a:solidFill>
                      <a:prstDash val="solid"/>
                    </a:lnR>
                    <a:lnB w="9525">
                      <a:solidFill>
                        <a:srgbClr val="2A3C53"/>
                      </a:solidFill>
                      <a:prstDash val="solid"/>
                    </a:lnB>
                    <a:solidFill>
                      <a:srgbClr val="0814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F2F1E9"/>
                          </a:solidFill>
                          <a:latin typeface="Arial"/>
                          <a:ea typeface="Arial"/>
                          <a:cs typeface="Arial"/>
                        </a:rPr>
                        <a:t>Release candidate if criteria are met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2A3C53"/>
                      </a:solidFill>
                      <a:prstDash val="solid"/>
                    </a:lnR>
                    <a:lnB w="9525">
                      <a:solidFill>
                        <a:srgbClr val="2A3C53"/>
                      </a:solidFill>
                      <a:prstDash val="solid"/>
                    </a:lnB>
                    <a:solidFill>
                      <a:srgbClr val="081424"/>
                    </a:solidFill>
                  </a:tcPr>
                </a:tc>
              </a:tr>
            </a:tbl>
          </a:graphicData>
        </a:graphic>
      </p:graphicFrame>
      <p:sp>
        <p:nvSpPr>
          <p:cNvPr id="4" name="text-66">
            <a:extLst xmlns:a="http://schemas.openxmlformats.org/drawingml/2006/main">
              <a:ext uri="{FF2B5EF4-FFF2-40B4-BE49-F238E27FC236}">
                <a16:creationId xmlns:a16="http://schemas.microsoft.com/office/drawing/2014/main" id="{6EA1CDAF-0C12-4470-A9C8-EF467CC7B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67DBE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67DBE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7DBEC"/>
                </a:solidFill>
                <a:latin typeface="Arial"/>
                <a:ea typeface="Arial"/>
                <a:cs typeface="Arial"/>
              </a:rPr>
              <a:t>PR and marketing run during months 2–4.</a:t>
            </a:r>
          </a:p>
        </p:txBody>
      </p:sp>
      <p:sp>
        <p:nvSpPr>
          <p:cNvPr id="5" name="text-67">
            <a:extLst xmlns:a="http://schemas.openxmlformats.org/drawingml/2006/main">
              <a:ext uri="{FF2B5EF4-FFF2-40B4-BE49-F238E27FC236}">
                <a16:creationId xmlns:a16="http://schemas.microsoft.com/office/drawing/2014/main" id="{A767A52B-903A-4E7D-B3E5-79769B4C9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4362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AABBD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AABBD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AABBD1"/>
                </a:solidFill>
                <a:latin typeface="Arial"/>
                <a:ea typeface="Arial"/>
                <a:cs typeface="Arial"/>
              </a:rPr>
              <a:t>Timing depends on funding, recruitment and validation. The 2027 date is a target.</a:t>
            </a:r>
          </a:p>
        </p:txBody>
      </p:sp>
    </p:spTree>
    <p:extLst>
      <p:ext uri="{BB962C8B-B14F-4D97-AF65-F5344CB8AC3E}">
        <p14:creationId xmlns:p14="http://schemas.microsoft.com/office/powerpoint/2010/main" val="12443334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814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68">
            <a:extLst xmlns:a="http://schemas.openxmlformats.org/drawingml/2006/main">
              <a:ext uri="{FF2B5EF4-FFF2-40B4-BE49-F238E27FC236}">
                <a16:creationId xmlns:a16="http://schemas.microsoft.com/office/drawing/2014/main" id="{47B62534-E529-4F98-B466-22053B512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2F1E9"/>
                </a:solidFill>
                <a:latin typeface="Arial"/>
                <a:ea typeface="Arial"/>
                <a:cs typeface="Arial"/>
              </a:rPr>
              <a:t>$30,000 covers the four-month proposal</a:t>
            </a:r>
          </a:p>
        </p:txBody>
      </p:sp>
      <p:sp>
        <p:nvSpPr>
          <p:cNvPr id="2" name="text-69">
            <a:extLst xmlns:a="http://schemas.openxmlformats.org/drawingml/2006/main">
              <a:ext uri="{FF2B5EF4-FFF2-40B4-BE49-F238E27FC236}">
                <a16:creationId xmlns:a16="http://schemas.microsoft.com/office/drawing/2014/main" id="{8E89EC3E-DC4E-45BA-A08F-524756033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1032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AABBD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AABBD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ABBD1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E175E9-2EAE-42C6-8DBA-5DBBCF5B914F}"/>
              </a:ext>
            </a:extLst>
          </p:cNvPr>
          <p:cNvGraphicFramePr/>
          <p:nvPr/>
        </p:nvGraphicFramePr>
        <p:xfrm>
          <a:off xmlns:a="http://schemas.openxmlformats.org/drawingml/2006/main" x="609600" y="1514475"/>
          <a:ext xmlns:a="http://schemas.openxmlformats.org/drawingml/2006/main" cx="6848475" cy="42005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334000"/>
                <a:gridCol w="1514475"/>
              </a:tblGrid>
              <a:tr h="420053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67DBEC"/>
                          </a:solidFill>
                          <a:latin typeface="Arial"/>
                          <a:ea typeface="Arial"/>
                          <a:cs typeface="Arial"/>
                        </a:rPr>
                        <a:t>Budget item</a:t>
                      </a:r>
                    </a:p>
                  </a:txBody>
                  <a:tcPr marL="114300" marR="114300" marT="19050" marB="19050" anchor="ctr">
                    <a:lnL w="9525">
                      <a:solidFill>
                        <a:srgbClr val="2A3C53"/>
                      </a:solidFill>
                      <a:prstDash val="solid"/>
                    </a:lnL>
                    <a:lnR w="9525">
                      <a:solidFill>
                        <a:srgbClr val="2A3C53"/>
                      </a:solidFill>
                      <a:prstDash val="solid"/>
                    </a:lnR>
                    <a:lnT w="9525">
                      <a:solidFill>
                        <a:srgbClr val="2A3C53"/>
                      </a:solidFill>
                      <a:prstDash val="solid"/>
                    </a:lnT>
                    <a:lnB w="9525">
                      <a:solidFill>
                        <a:srgbClr val="2A3C53"/>
                      </a:solidFill>
                      <a:prstDash val="solid"/>
                    </a:lnB>
                    <a:solidFill>
                      <a:srgbClr val="1124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67DBEC"/>
                          </a:solidFill>
                          <a:latin typeface="Arial"/>
                          <a:ea typeface="Arial"/>
                          <a:cs typeface="Arial"/>
                        </a:rPr>
                        <a:t>USD</a:t>
                      </a:r>
                    </a:p>
                  </a:txBody>
                  <a:tcPr marL="114300" marR="114300" marT="19050" marB="19050" anchor="ctr">
                    <a:lnR w="9525">
                      <a:solidFill>
                        <a:srgbClr val="2A3C53"/>
                      </a:solidFill>
                      <a:prstDash val="solid"/>
                    </a:lnR>
                    <a:lnT w="9525">
                      <a:solidFill>
                        <a:srgbClr val="2A3C53"/>
                      </a:solidFill>
                      <a:prstDash val="solid"/>
                    </a:lnT>
                    <a:lnB w="9525">
                      <a:solidFill>
                        <a:srgbClr val="2A3C53"/>
                      </a:solidFill>
                      <a:prstDash val="solid"/>
                    </a:lnB>
                    <a:solidFill>
                      <a:srgbClr val="11243A"/>
                    </a:solidFill>
                  </a:tcPr>
                </a:tc>
              </a:tr>
              <a:tr h="420053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2F1E9"/>
                          </a:solidFill>
                          <a:latin typeface="Arial"/>
                          <a:ea typeface="Arial"/>
                          <a:cs typeface="Arial"/>
                        </a:rPr>
                        <a:t>Founder + two planned developers</a:t>
                      </a:r>
                    </a:p>
                  </a:txBody>
                  <a:tcPr marL="114300" marR="114300" marT="19050" marB="19050" anchor="ctr">
                    <a:lnL w="9525">
                      <a:solidFill>
                        <a:srgbClr val="2A3C53"/>
                      </a:solidFill>
                      <a:prstDash val="solid"/>
                    </a:lnL>
                    <a:lnR w="9525">
                      <a:solidFill>
                        <a:srgbClr val="2A3C53"/>
                      </a:solidFill>
                      <a:prstDash val="solid"/>
                    </a:lnR>
                    <a:lnB w="9525">
                      <a:solidFill>
                        <a:srgbClr val="2A3C53"/>
                      </a:solidFill>
                      <a:prstDash val="solid"/>
                    </a:lnB>
                    <a:solidFill>
                      <a:srgbClr val="0814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2F1E9"/>
                          </a:solidFill>
                          <a:latin typeface="Arial"/>
                          <a:ea typeface="Arial"/>
                          <a:cs typeface="Arial"/>
                        </a:rPr>
                        <a:t>18,000</a:t>
                      </a:r>
                    </a:p>
                  </a:txBody>
                  <a:tcPr marL="114300" marR="114300" marT="19050" marB="19050" anchor="ctr">
                    <a:lnR w="9525">
                      <a:solidFill>
                        <a:srgbClr val="2A3C53"/>
                      </a:solidFill>
                      <a:prstDash val="solid"/>
                    </a:lnR>
                    <a:lnB w="9525">
                      <a:solidFill>
                        <a:srgbClr val="2A3C53"/>
                      </a:solidFill>
                      <a:prstDash val="solid"/>
                    </a:lnB>
                    <a:solidFill>
                      <a:srgbClr val="081424"/>
                    </a:solidFill>
                  </a:tcPr>
                </a:tc>
              </a:tr>
              <a:tr h="420053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2F1E9"/>
                          </a:solidFill>
                          <a:latin typeface="Arial"/>
                          <a:ea typeface="Arial"/>
                          <a:cs typeface="Arial"/>
                        </a:rPr>
                        <a:t>Art and UI assets</a:t>
                      </a:r>
                    </a:p>
                  </a:txBody>
                  <a:tcPr marL="114300" marR="114300" marT="19050" marB="19050" anchor="ctr">
                    <a:lnL w="9525">
                      <a:solidFill>
                        <a:srgbClr val="2A3C53"/>
                      </a:solidFill>
                      <a:prstDash val="solid"/>
                    </a:lnL>
                    <a:lnR w="9525">
                      <a:solidFill>
                        <a:srgbClr val="2A3C53"/>
                      </a:solidFill>
                      <a:prstDash val="solid"/>
                    </a:lnR>
                    <a:lnB w="9525">
                      <a:solidFill>
                        <a:srgbClr val="2A3C53"/>
                      </a:solidFill>
                      <a:prstDash val="solid"/>
                    </a:lnB>
                    <a:solidFill>
                      <a:srgbClr val="0814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2F1E9"/>
                          </a:solidFill>
                          <a:latin typeface="Arial"/>
                          <a:ea typeface="Arial"/>
                          <a:cs typeface="Arial"/>
                        </a:rPr>
                        <a:t>3,000</a:t>
                      </a:r>
                    </a:p>
                  </a:txBody>
                  <a:tcPr marL="114300" marR="114300" marT="19050" marB="19050" anchor="ctr">
                    <a:lnR w="9525">
                      <a:solidFill>
                        <a:srgbClr val="2A3C53"/>
                      </a:solidFill>
                      <a:prstDash val="solid"/>
                    </a:lnR>
                    <a:lnB w="9525">
                      <a:solidFill>
                        <a:srgbClr val="2A3C53"/>
                      </a:solidFill>
                      <a:prstDash val="solid"/>
                    </a:lnB>
                    <a:solidFill>
                      <a:srgbClr val="081424"/>
                    </a:solidFill>
                  </a:tcPr>
                </a:tc>
              </a:tr>
              <a:tr h="420053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2F1E9"/>
                          </a:solidFill>
                          <a:latin typeface="Arial"/>
                          <a:ea typeface="Arial"/>
                          <a:cs typeface="Arial"/>
                        </a:rPr>
                        <a:t>Audio and music</a:t>
                      </a:r>
                    </a:p>
                  </a:txBody>
                  <a:tcPr marL="114300" marR="114300" marT="19050" marB="19050" anchor="ctr">
                    <a:lnL w="9525">
                      <a:solidFill>
                        <a:srgbClr val="2A3C53"/>
                      </a:solidFill>
                      <a:prstDash val="solid"/>
                    </a:lnL>
                    <a:lnR w="9525">
                      <a:solidFill>
                        <a:srgbClr val="2A3C53"/>
                      </a:solidFill>
                      <a:prstDash val="solid"/>
                    </a:lnR>
                    <a:lnB w="9525">
                      <a:solidFill>
                        <a:srgbClr val="2A3C53"/>
                      </a:solidFill>
                      <a:prstDash val="solid"/>
                    </a:lnB>
                    <a:solidFill>
                      <a:srgbClr val="0814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2F1E9"/>
                          </a:solidFill>
                          <a:latin typeface="Arial"/>
                          <a:ea typeface="Arial"/>
                          <a:cs typeface="Arial"/>
                        </a:rPr>
                        <a:t>500</a:t>
                      </a:r>
                    </a:p>
                  </a:txBody>
                  <a:tcPr marL="114300" marR="114300" marT="19050" marB="19050" anchor="ctr">
                    <a:lnR w="9525">
                      <a:solidFill>
                        <a:srgbClr val="2A3C53"/>
                      </a:solidFill>
                      <a:prstDash val="solid"/>
                    </a:lnR>
                    <a:lnB w="9525">
                      <a:solidFill>
                        <a:srgbClr val="2A3C53"/>
                      </a:solidFill>
                      <a:prstDash val="solid"/>
                    </a:lnB>
                    <a:solidFill>
                      <a:srgbClr val="081424"/>
                    </a:solidFill>
                  </a:tcPr>
                </a:tc>
              </a:tr>
              <a:tr h="420053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2F1E9"/>
                          </a:solidFill>
                          <a:latin typeface="Arial"/>
                          <a:ea typeface="Arial"/>
                          <a:cs typeface="Arial"/>
                        </a:rPr>
                        <a:t>QA and device coverage</a:t>
                      </a:r>
                    </a:p>
                  </a:txBody>
                  <a:tcPr marL="114300" marR="114300" marT="19050" marB="19050" anchor="ctr">
                    <a:lnL w="9525">
                      <a:solidFill>
                        <a:srgbClr val="2A3C53"/>
                      </a:solidFill>
                      <a:prstDash val="solid"/>
                    </a:lnL>
                    <a:lnR w="9525">
                      <a:solidFill>
                        <a:srgbClr val="2A3C53"/>
                      </a:solidFill>
                      <a:prstDash val="solid"/>
                    </a:lnR>
                    <a:lnB w="9525">
                      <a:solidFill>
                        <a:srgbClr val="2A3C53"/>
                      </a:solidFill>
                      <a:prstDash val="solid"/>
                    </a:lnB>
                    <a:solidFill>
                      <a:srgbClr val="0814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2F1E9"/>
                          </a:solidFill>
                          <a:latin typeface="Arial"/>
                          <a:ea typeface="Arial"/>
                          <a:cs typeface="Arial"/>
                        </a:rPr>
                        <a:t>1,500</a:t>
                      </a:r>
                    </a:p>
                  </a:txBody>
                  <a:tcPr marL="114300" marR="114300" marT="19050" marB="19050" anchor="ctr">
                    <a:lnR w="9525">
                      <a:solidFill>
                        <a:srgbClr val="2A3C53"/>
                      </a:solidFill>
                      <a:prstDash val="solid"/>
                    </a:lnR>
                    <a:lnB w="9525">
                      <a:solidFill>
                        <a:srgbClr val="2A3C53"/>
                      </a:solidFill>
                      <a:prstDash val="solid"/>
                    </a:lnB>
                    <a:solidFill>
                      <a:srgbClr val="081424"/>
                    </a:solidFill>
                  </a:tcPr>
                </a:tc>
              </a:tr>
              <a:tr h="420053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2F1E9"/>
                          </a:solidFill>
                          <a:latin typeface="Arial"/>
                          <a:ea typeface="Arial"/>
                          <a:cs typeface="Arial"/>
                        </a:rPr>
                        <a:t>Hosting and tools</a:t>
                      </a:r>
                    </a:p>
                  </a:txBody>
                  <a:tcPr marL="114300" marR="114300" marT="19050" marB="19050" anchor="ctr">
                    <a:lnL w="9525">
                      <a:solidFill>
                        <a:srgbClr val="2A3C53"/>
                      </a:solidFill>
                      <a:prstDash val="solid"/>
                    </a:lnL>
                    <a:lnR w="9525">
                      <a:solidFill>
                        <a:srgbClr val="2A3C53"/>
                      </a:solidFill>
                      <a:prstDash val="solid"/>
                    </a:lnR>
                    <a:lnB w="9525">
                      <a:solidFill>
                        <a:srgbClr val="2A3C53"/>
                      </a:solidFill>
                      <a:prstDash val="solid"/>
                    </a:lnB>
                    <a:solidFill>
                      <a:srgbClr val="0814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2F1E9"/>
                          </a:solidFill>
                          <a:latin typeface="Arial"/>
                          <a:ea typeface="Arial"/>
                          <a:cs typeface="Arial"/>
                        </a:rPr>
                        <a:t>300</a:t>
                      </a:r>
                    </a:p>
                  </a:txBody>
                  <a:tcPr marL="114300" marR="114300" marT="19050" marB="19050" anchor="ctr">
                    <a:lnR w="9525">
                      <a:solidFill>
                        <a:srgbClr val="2A3C53"/>
                      </a:solidFill>
                      <a:prstDash val="solid"/>
                    </a:lnR>
                    <a:lnB w="9525">
                      <a:solidFill>
                        <a:srgbClr val="2A3C53"/>
                      </a:solidFill>
                      <a:prstDash val="solid"/>
                    </a:lnB>
                    <a:solidFill>
                      <a:srgbClr val="081424"/>
                    </a:solidFill>
                  </a:tcPr>
                </a:tc>
              </a:tr>
              <a:tr h="420053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2F1E9"/>
                          </a:solidFill>
                          <a:latin typeface="Arial"/>
                          <a:ea typeface="Arial"/>
                          <a:cs typeface="Arial"/>
                        </a:rPr>
                        <a:t>Publishing and admin</a:t>
                      </a:r>
                    </a:p>
                  </a:txBody>
                  <a:tcPr marL="114300" marR="114300" marT="19050" marB="19050" anchor="ctr">
                    <a:lnL w="9525">
                      <a:solidFill>
                        <a:srgbClr val="2A3C53"/>
                      </a:solidFill>
                      <a:prstDash val="solid"/>
                    </a:lnL>
                    <a:lnR w="9525">
                      <a:solidFill>
                        <a:srgbClr val="2A3C53"/>
                      </a:solidFill>
                      <a:prstDash val="solid"/>
                    </a:lnR>
                    <a:lnB w="9525">
                      <a:solidFill>
                        <a:srgbClr val="2A3C53"/>
                      </a:solidFill>
                      <a:prstDash val="solid"/>
                    </a:lnB>
                    <a:solidFill>
                      <a:srgbClr val="0814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2F1E9"/>
                          </a:solidFill>
                          <a:latin typeface="Arial"/>
                          <a:ea typeface="Arial"/>
                          <a:cs typeface="Arial"/>
                        </a:rPr>
                        <a:t>100</a:t>
                      </a:r>
                    </a:p>
                  </a:txBody>
                  <a:tcPr marL="114300" marR="114300" marT="19050" marB="19050" anchor="ctr">
                    <a:lnR w="9525">
                      <a:solidFill>
                        <a:srgbClr val="2A3C53"/>
                      </a:solidFill>
                      <a:prstDash val="solid"/>
                    </a:lnR>
                    <a:lnB w="9525">
                      <a:solidFill>
                        <a:srgbClr val="2A3C53"/>
                      </a:solidFill>
                      <a:prstDash val="solid"/>
                    </a:lnB>
                    <a:solidFill>
                      <a:srgbClr val="081424"/>
                    </a:solidFill>
                  </a:tcPr>
                </a:tc>
              </a:tr>
              <a:tr h="420053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2F1E9"/>
                          </a:solidFill>
                          <a:latin typeface="Arial"/>
                          <a:ea typeface="Arial"/>
                          <a:cs typeface="Arial"/>
                        </a:rPr>
                        <a:t>PR and marketing</a:t>
                      </a:r>
                    </a:p>
                  </a:txBody>
                  <a:tcPr marL="114300" marR="114300" marT="19050" marB="19050" anchor="ctr">
                    <a:lnL w="9525">
                      <a:solidFill>
                        <a:srgbClr val="2A3C53"/>
                      </a:solidFill>
                      <a:prstDash val="solid"/>
                    </a:lnL>
                    <a:lnR w="9525">
                      <a:solidFill>
                        <a:srgbClr val="2A3C53"/>
                      </a:solidFill>
                      <a:prstDash val="solid"/>
                    </a:lnR>
                    <a:lnB w="9525">
                      <a:solidFill>
                        <a:srgbClr val="2A3C53"/>
                      </a:solidFill>
                      <a:prstDash val="solid"/>
                    </a:lnB>
                    <a:solidFill>
                      <a:srgbClr val="0814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2F1E9"/>
                          </a:solidFill>
                          <a:latin typeface="Arial"/>
                          <a:ea typeface="Arial"/>
                          <a:cs typeface="Arial"/>
                        </a:rPr>
                        <a:t>3,000</a:t>
                      </a:r>
                    </a:p>
                  </a:txBody>
                  <a:tcPr marL="114300" marR="114300" marT="19050" marB="19050" anchor="ctr">
                    <a:lnR w="9525">
                      <a:solidFill>
                        <a:srgbClr val="2A3C53"/>
                      </a:solidFill>
                      <a:prstDash val="solid"/>
                    </a:lnR>
                    <a:lnB w="9525">
                      <a:solidFill>
                        <a:srgbClr val="2A3C53"/>
                      </a:solidFill>
                      <a:prstDash val="solid"/>
                    </a:lnB>
                    <a:solidFill>
                      <a:srgbClr val="081424"/>
                    </a:solidFill>
                  </a:tcPr>
                </a:tc>
              </a:tr>
              <a:tr h="420053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2F1E9"/>
                          </a:solidFill>
                          <a:latin typeface="Arial"/>
                          <a:ea typeface="Arial"/>
                          <a:cs typeface="Arial"/>
                        </a:rPr>
                        <a:t>Contingency</a:t>
                      </a:r>
                    </a:p>
                  </a:txBody>
                  <a:tcPr marL="114300" marR="114300" marT="19050" marB="19050" anchor="ctr">
                    <a:lnL w="9525">
                      <a:solidFill>
                        <a:srgbClr val="2A3C53"/>
                      </a:solidFill>
                      <a:prstDash val="solid"/>
                    </a:lnL>
                    <a:lnR w="9525">
                      <a:solidFill>
                        <a:srgbClr val="2A3C53"/>
                      </a:solidFill>
                      <a:prstDash val="solid"/>
                    </a:lnR>
                    <a:lnB w="9525">
                      <a:solidFill>
                        <a:srgbClr val="2A3C53"/>
                      </a:solidFill>
                      <a:prstDash val="solid"/>
                    </a:lnB>
                    <a:solidFill>
                      <a:srgbClr val="0814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2F1E9"/>
                          </a:solidFill>
                          <a:latin typeface="Arial"/>
                          <a:ea typeface="Arial"/>
                          <a:cs typeface="Arial"/>
                        </a:rPr>
                        <a:t>3,600</a:t>
                      </a:r>
                    </a:p>
                  </a:txBody>
                  <a:tcPr marL="114300" marR="114300" marT="19050" marB="19050" anchor="ctr">
                    <a:lnR w="9525">
                      <a:solidFill>
                        <a:srgbClr val="2A3C53"/>
                      </a:solidFill>
                      <a:prstDash val="solid"/>
                    </a:lnR>
                    <a:lnB w="9525">
                      <a:solidFill>
                        <a:srgbClr val="2A3C53"/>
                      </a:solidFill>
                      <a:prstDash val="solid"/>
                    </a:lnB>
                    <a:solidFill>
                      <a:srgbClr val="081424"/>
                    </a:solidFill>
                  </a:tcPr>
                </a:tc>
              </a:tr>
              <a:tr h="420053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4C46A"/>
                          </a:solidFill>
                          <a:latin typeface="Arial"/>
                          <a:ea typeface="Arial"/>
                          <a:cs typeface="Arial"/>
                        </a:rPr>
                        <a:t>Total requested</a:t>
                      </a:r>
                    </a:p>
                  </a:txBody>
                  <a:tcPr marL="114300" marR="114300" marT="19050" marB="19050" anchor="ctr">
                    <a:lnL w="9525">
                      <a:solidFill>
                        <a:srgbClr val="2A3C53"/>
                      </a:solidFill>
                      <a:prstDash val="solid"/>
                    </a:lnL>
                    <a:lnR w="9525">
                      <a:solidFill>
                        <a:srgbClr val="2A3C53"/>
                      </a:solidFill>
                      <a:prstDash val="solid"/>
                    </a:lnR>
                    <a:lnB w="9525">
                      <a:solidFill>
                        <a:srgbClr val="2A3C53"/>
                      </a:solidFill>
                      <a:prstDash val="solid"/>
                    </a:lnB>
                    <a:solidFill>
                      <a:srgbClr val="1124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4C46A"/>
                          </a:solidFill>
                          <a:latin typeface="Arial"/>
                          <a:ea typeface="Arial"/>
                          <a:cs typeface="Arial"/>
                        </a:rPr>
                        <a:t>30,000</a:t>
                      </a:r>
                    </a:p>
                  </a:txBody>
                  <a:tcPr marL="114300" marR="114300" marT="19050" marB="19050" anchor="ctr">
                    <a:lnR w="9525">
                      <a:solidFill>
                        <a:srgbClr val="2A3C53"/>
                      </a:solidFill>
                      <a:prstDash val="solid"/>
                    </a:lnR>
                    <a:lnB w="9525">
                      <a:solidFill>
                        <a:srgbClr val="2A3C53"/>
                      </a:solidFill>
                      <a:prstDash val="solid"/>
                    </a:lnB>
                    <a:solidFill>
                      <a:srgbClr val="11243A"/>
                    </a:solidFill>
                  </a:tcPr>
                </a:tc>
              </a:tr>
            </a:tbl>
          </a:graphicData>
        </a:graphic>
      </p:graphicFrame>
      <p:sp>
        <p:nvSpPr>
          <p:cNvPr id="4" name="text-70">
            <a:extLst xmlns:a="http://schemas.openxmlformats.org/drawingml/2006/main">
              <a:ext uri="{FF2B5EF4-FFF2-40B4-BE49-F238E27FC236}">
                <a16:creationId xmlns:a16="http://schemas.microsoft.com/office/drawing/2014/main" id="{52274C35-2CFB-4D43-8844-A024CA12C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1562100"/>
            <a:ext cx="3619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F4C4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F4C46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4C46A"/>
                </a:solidFill>
                <a:latin typeface="Arial"/>
                <a:ea typeface="Arial"/>
                <a:cs typeface="Arial"/>
              </a:rPr>
              <a:t>Development allowance</a:t>
            </a:r>
          </a:p>
        </p:txBody>
      </p:sp>
      <p:sp>
        <p:nvSpPr>
          <p:cNvPr id="5" name="text-71">
            <a:extLst xmlns:a="http://schemas.openxmlformats.org/drawingml/2006/main">
              <a:ext uri="{FF2B5EF4-FFF2-40B4-BE49-F238E27FC236}">
                <a16:creationId xmlns:a16="http://schemas.microsoft.com/office/drawing/2014/main" id="{DB65B441-8AFB-4AC4-9D86-59E170E1D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2190750"/>
            <a:ext cx="3619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F2F1E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F2F1E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F1E9"/>
                </a:solidFill>
                <a:latin typeface="Arial"/>
                <a:ea typeface="Arial"/>
                <a:cs typeface="Arial"/>
              </a:rPr>
              <a:t>3 people × 4 months</a:t>
            </a:r>
          </a:p>
          <a:p xmlns:a="http://schemas.openxmlformats.org/drawingml/2006/main">
            <a:pPr>
              <a:defRPr sz="2100" b="0">
                <a:solidFill>
                  <a:srgbClr val="F2F1E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F1E9"/>
                </a:solidFill>
                <a:latin typeface="Arial"/>
                <a:ea typeface="Arial"/>
                <a:cs typeface="Arial"/>
              </a:rPr>
              <a:t>× $1,500 per month</a:t>
            </a:r>
          </a:p>
        </p:txBody>
      </p:sp>
      <p:sp>
        <p:nvSpPr>
          <p:cNvPr id="6" name="text-72">
            <a:extLst xmlns:a="http://schemas.openxmlformats.org/drawingml/2006/main">
              <a:ext uri="{FF2B5EF4-FFF2-40B4-BE49-F238E27FC236}">
                <a16:creationId xmlns:a16="http://schemas.microsoft.com/office/drawing/2014/main" id="{AAFA98AC-F345-4D3C-B89A-5D91AE96A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3476625"/>
            <a:ext cx="3619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67DBE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67DBE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67DBEC"/>
                </a:solidFill>
                <a:latin typeface="Arial"/>
                <a:ea typeface="Arial"/>
                <a:cs typeface="Arial"/>
              </a:rPr>
              <a:t>PR and marketing</a:t>
            </a:r>
          </a:p>
        </p:txBody>
      </p:sp>
      <p:sp>
        <p:nvSpPr>
          <p:cNvPr id="7" name="text-73">
            <a:extLst xmlns:a="http://schemas.openxmlformats.org/drawingml/2006/main">
              <a:ext uri="{FF2B5EF4-FFF2-40B4-BE49-F238E27FC236}">
                <a16:creationId xmlns:a16="http://schemas.microsoft.com/office/drawing/2014/main" id="{E805300E-4723-44C2-9A3D-7E3C39575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4029075"/>
            <a:ext cx="3619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F2F1E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F2F1E9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2F1E9"/>
                </a:solidFill>
                <a:latin typeface="Arial"/>
                <a:ea typeface="Arial"/>
                <a:cs typeface="Arial"/>
              </a:rPr>
              <a:t>$700 press / store assets</a:t>
            </a:r>
          </a:p>
          <a:p xmlns:a="http://schemas.openxmlformats.org/drawingml/2006/main">
            <a:pPr>
              <a:defRPr sz="1950" b="0">
                <a:solidFill>
                  <a:srgbClr val="F2F1E9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2F1E9"/>
                </a:solidFill>
                <a:latin typeface="Arial"/>
                <a:ea typeface="Arial"/>
                <a:cs typeface="Arial"/>
              </a:rPr>
              <a:t>$800 creator outreach</a:t>
            </a:r>
          </a:p>
          <a:p xmlns:a="http://schemas.openxmlformats.org/drawingml/2006/main">
            <a:pPr>
              <a:defRPr sz="1950" b="0">
                <a:solidFill>
                  <a:srgbClr val="F2F1E9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2F1E9"/>
                </a:solidFill>
                <a:latin typeface="Arial"/>
                <a:ea typeface="Arial"/>
                <a:cs typeface="Arial"/>
              </a:rPr>
              <a:t>$1,500 paid experiments</a:t>
            </a:r>
          </a:p>
        </p:txBody>
      </p:sp>
      <p:sp>
        <p:nvSpPr>
          <p:cNvPr id="8" name="text-74">
            <a:extLst xmlns:a="http://schemas.openxmlformats.org/drawingml/2006/main">
              <a:ext uri="{FF2B5EF4-FFF2-40B4-BE49-F238E27FC236}">
                <a16:creationId xmlns:a16="http://schemas.microsoft.com/office/drawing/2014/main" id="{29F116CC-2FA8-4B3F-AC89-588B0481C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91225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AABBD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AABBD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ABBD1"/>
                </a:solidFill>
                <a:latin typeface="Arial"/>
                <a:ea typeface="Arial"/>
                <a:cs typeface="Arial"/>
              </a:rPr>
              <a:t>All costs and pay rates are proposed estimates. Hires depend on funding.</a:t>
            </a:r>
          </a:p>
        </p:txBody>
      </p:sp>
    </p:spTree>
    <p:extLst>
      <p:ext uri="{BB962C8B-B14F-4D97-AF65-F5344CB8AC3E}">
        <p14:creationId xmlns:p14="http://schemas.microsoft.com/office/powerpoint/2010/main" val="34033402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814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75">
            <a:extLst xmlns:a="http://schemas.openxmlformats.org/drawingml/2006/main">
              <a:ext uri="{FF2B5EF4-FFF2-40B4-BE49-F238E27FC236}">
                <a16:creationId xmlns:a16="http://schemas.microsoft.com/office/drawing/2014/main" id="{87AE5035-B3CA-4F34-9CF9-BA7A21A51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2F1E9"/>
                </a:solidFill>
                <a:latin typeface="Arial"/>
                <a:ea typeface="Arial"/>
                <a:cs typeface="Arial"/>
              </a:rPr>
              <a:t>Help bring ArcaneKnockout to release</a:t>
            </a:r>
          </a:p>
        </p:txBody>
      </p:sp>
      <p:sp>
        <p:nvSpPr>
          <p:cNvPr id="2" name="text-76">
            <a:extLst xmlns:a="http://schemas.openxmlformats.org/drawingml/2006/main">
              <a:ext uri="{FF2B5EF4-FFF2-40B4-BE49-F238E27FC236}">
                <a16:creationId xmlns:a16="http://schemas.microsoft.com/office/drawing/2014/main" id="{6519069D-43D9-433A-BF8E-05257FD1A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1032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AABBD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AABBD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ABBD1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3" name="text-77">
            <a:extLst xmlns:a="http://schemas.openxmlformats.org/drawingml/2006/main">
              <a:ext uri="{FF2B5EF4-FFF2-40B4-BE49-F238E27FC236}">
                <a16:creationId xmlns:a16="http://schemas.microsoft.com/office/drawing/2014/main" id="{A72F86FB-7BA1-43CF-BCC6-0E47D393B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90675"/>
            <a:ext cx="6667500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7050" b="1">
                <a:solidFill>
                  <a:srgbClr val="F4C4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7050" b="1">
                <a:solidFill>
                  <a:srgbClr val="F4C46A"/>
                </a:solidFill>
                <a:latin typeface="Arial"/>
                <a:ea typeface="Arial"/>
                <a:cs typeface="Arial"/>
              </a:defRPr>
            </a:pPr>
            <a:r>
              <a:rPr sz="7050" b="1">
                <a:solidFill>
                  <a:srgbClr val="F4C46A"/>
                </a:solidFill>
                <a:latin typeface="Arial"/>
                <a:ea typeface="Arial"/>
                <a:cs typeface="Arial"/>
              </a:rPr>
              <a:t>$30,000</a:t>
            </a:r>
          </a:p>
        </p:txBody>
      </p:sp>
      <p:sp>
        <p:nvSpPr>
          <p:cNvPr id="4" name="text-78">
            <a:extLst xmlns:a="http://schemas.openxmlformats.org/drawingml/2006/main">
              <a:ext uri="{FF2B5EF4-FFF2-40B4-BE49-F238E27FC236}">
                <a16:creationId xmlns:a16="http://schemas.microsoft.com/office/drawing/2014/main" id="{9E20AEC6-09F0-47D6-9009-6A86F97AA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62275"/>
            <a:ext cx="1057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0">
                <a:solidFill>
                  <a:srgbClr val="F2F1E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F2F1E9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F2F1E9"/>
                </a:solidFill>
                <a:latin typeface="Arial"/>
                <a:ea typeface="Arial"/>
                <a:cs typeface="Arial"/>
              </a:rPr>
              <a:t>Fund four months of development, two planned</a:t>
            </a:r>
          </a:p>
          <a:p xmlns:a="http://schemas.openxmlformats.org/drawingml/2006/main">
            <a:pPr>
              <a:defRPr sz="2550" b="0">
                <a:solidFill>
                  <a:srgbClr val="F2F1E9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F2F1E9"/>
                </a:solidFill>
                <a:latin typeface="Arial"/>
                <a:ea typeface="Arial"/>
                <a:cs typeface="Arial"/>
              </a:rPr>
              <a:t>hires, external testing and release preparation.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34CF81-B76A-4F10-8915-CCF8485F7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148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C53"/>
          </a:solidFill>
          <a:ln xmlns:a="http://schemas.openxmlformats.org/drawingml/2006/main" w="0">
            <a:noFill/>
          </a:ln>
        </p:spPr>
      </p:sp>
      <p:sp>
        <p:nvSpPr>
          <p:cNvPr id="6" name="text-79">
            <a:extLst xmlns:a="http://schemas.openxmlformats.org/drawingml/2006/main">
              <a:ext uri="{FF2B5EF4-FFF2-40B4-BE49-F238E27FC236}">
                <a16:creationId xmlns:a16="http://schemas.microsoft.com/office/drawing/2014/main" id="{59E8B1D2-1F5E-4E56-902C-9DCECEBAB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76775"/>
            <a:ext cx="1057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67DBE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67DBE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67DBEC"/>
                </a:solidFill>
                <a:latin typeface="Arial"/>
                <a:ea typeface="Arial"/>
                <a:cs typeface="Arial"/>
                <a:hlinkClick xmlns:r="http://schemas.openxmlformats.org/officeDocument/2006/relationships" r:id="R9d61cc07977148d5"/>
              </a:rPr>
              <a:t>Review the prototypes, gameplay and budget</a:t>
            </a:r>
          </a:p>
        </p:txBody>
      </p:sp>
      <p:sp>
        <p:nvSpPr>
          <p:cNvPr id="7" name="text-80">
            <a:extLst xmlns:a="http://schemas.openxmlformats.org/drawingml/2006/main">
              <a:ext uri="{FF2B5EF4-FFF2-40B4-BE49-F238E27FC236}">
                <a16:creationId xmlns:a16="http://schemas.microsoft.com/office/drawing/2014/main" id="{4231D0A9-0525-421D-B88C-E1E80C702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00675"/>
            <a:ext cx="552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2F1E9"/>
                </a:solidFill>
                <a:latin typeface="Arial"/>
                <a:ea typeface="Arial"/>
                <a:cs typeface="Arial"/>
                <a:hlinkClick xmlns:r="http://schemas.openxmlformats.org/officeDocument/2006/relationships" r:id="R288551430b4f42c4"/>
              </a:rPr>
              <a:t>Official game website</a:t>
            </a:r>
          </a:p>
        </p:txBody>
      </p:sp>
      <p:sp>
        <p:nvSpPr>
          <p:cNvPr id="8" name="text-81">
            <a:extLst xmlns:a="http://schemas.openxmlformats.org/drawingml/2006/main">
              <a:ext uri="{FF2B5EF4-FFF2-40B4-BE49-F238E27FC236}">
                <a16:creationId xmlns:a16="http://schemas.microsoft.com/office/drawing/2014/main" id="{C8D40CB4-4DEF-4C4F-88D8-1C2AE16AC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647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AABBD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AABBD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AABBD1"/>
                </a:solidFill>
                <a:latin typeface="Arial"/>
                <a:ea typeface="Arial"/>
                <a:cs typeface="Arial"/>
                <a:hlinkClick xmlns:r="http://schemas.openxmlformats.org/officeDocument/2006/relationships" r:id="R11e9d32d9b6a4a12"/>
              </a:rPr>
              <a:t>arcaneknockout.minthukyaw.com</a:t>
            </a:r>
          </a:p>
        </p:txBody>
      </p:sp>
      <p:sp>
        <p:nvSpPr>
          <p:cNvPr id="9" name="text-82">
            <a:extLst xmlns:a="http://schemas.openxmlformats.org/drawingml/2006/main">
              <a:ext uri="{FF2B5EF4-FFF2-40B4-BE49-F238E27FC236}">
                <a16:creationId xmlns:a16="http://schemas.microsoft.com/office/drawing/2014/main" id="{C2229866-1CCA-471A-8F89-FE044CEAA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410200"/>
            <a:ext cx="361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2F1E9"/>
                </a:solidFill>
                <a:latin typeface="Arial"/>
                <a:ea typeface="Arial"/>
                <a:cs typeface="Arial"/>
              </a:rPr>
              <a:t>Min Thu Kyaw</a:t>
            </a:r>
          </a:p>
        </p:txBody>
      </p:sp>
      <p:sp>
        <p:nvSpPr>
          <p:cNvPr id="10" name="text-83">
            <a:extLst xmlns:a="http://schemas.openxmlformats.org/drawingml/2006/main">
              <a:ext uri="{FF2B5EF4-FFF2-40B4-BE49-F238E27FC236}">
                <a16:creationId xmlns:a16="http://schemas.microsoft.com/office/drawing/2014/main" id="{F46EF260-8D52-4E6B-8B9E-91CA4EE3E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838825"/>
            <a:ext cx="3619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AABBD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AABBD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AABBD1"/>
                </a:solidFill>
                <a:latin typeface="Arial"/>
                <a:ea typeface="Arial"/>
                <a:cs typeface="Arial"/>
                <a:hlinkClick xmlns:r="http://schemas.openxmlformats.org/officeDocument/2006/relationships" r:id="R828f8330751241ad"/>
              </a:rPr>
              <a:t>minthukyaw.com</a:t>
            </a:r>
          </a:p>
        </p:txBody>
      </p:sp>
    </p:spTree>
    <p:extLst>
      <p:ext uri="{BB962C8B-B14F-4D97-AF65-F5344CB8AC3E}">
        <p14:creationId xmlns:p14="http://schemas.microsoft.com/office/powerpoint/2010/main" val="37011226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2026-10-15T05:33:27.1960000Z</dcterms:created>
  <dcterms:modified xsi:type="dcterms:W3CDTF">2026-10-15T05:33:27.1960000Z</dcterms:modified>
</coreProperties>
</file>